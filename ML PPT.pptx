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9" r:id="rId22"/>
    <p:sldId id="280" r:id="rId23"/>
    <p:sldId id="282" r:id="rId24"/>
    <p:sldId id="283" r:id="rId25"/>
    <p:sldId id="284" r:id="rId26"/>
    <p:sldId id="285" r:id="rId27"/>
    <p:sldId id="286" r:id="rId28"/>
    <p:sldId id="287" r:id="rId29"/>
    <p:sldId id="289" r:id="rId3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60903" y="3004153"/>
            <a:ext cx="13766193" cy="405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992709" y="5812559"/>
            <a:ext cx="3295650" cy="3117850"/>
          </a:xfrm>
          <a:custGeom>
            <a:avLst/>
            <a:gdLst/>
            <a:ahLst/>
            <a:cxnLst/>
            <a:rect l="l" t="t" r="r" b="b"/>
            <a:pathLst>
              <a:path w="3295650" h="3117850">
                <a:moveTo>
                  <a:pt x="0" y="3117693"/>
                </a:moveTo>
                <a:lnTo>
                  <a:pt x="3295290" y="2798608"/>
                </a:lnTo>
                <a:lnTo>
                  <a:pt x="3295290" y="0"/>
                </a:lnTo>
                <a:lnTo>
                  <a:pt x="3246559" y="15391"/>
                </a:lnTo>
                <a:lnTo>
                  <a:pt x="3208834" y="28355"/>
                </a:lnTo>
                <a:lnTo>
                  <a:pt x="3171389" y="42072"/>
                </a:lnTo>
                <a:lnTo>
                  <a:pt x="3134219" y="56532"/>
                </a:lnTo>
                <a:lnTo>
                  <a:pt x="3097322" y="71719"/>
                </a:lnTo>
                <a:lnTo>
                  <a:pt x="3060694" y="87622"/>
                </a:lnTo>
                <a:lnTo>
                  <a:pt x="3024331" y="104225"/>
                </a:lnTo>
                <a:lnTo>
                  <a:pt x="2988231" y="121518"/>
                </a:lnTo>
                <a:lnTo>
                  <a:pt x="2952390" y="139485"/>
                </a:lnTo>
                <a:lnTo>
                  <a:pt x="2916803" y="158114"/>
                </a:lnTo>
                <a:lnTo>
                  <a:pt x="2881469" y="177391"/>
                </a:lnTo>
                <a:lnTo>
                  <a:pt x="2846382" y="197304"/>
                </a:lnTo>
                <a:lnTo>
                  <a:pt x="2811541" y="217838"/>
                </a:lnTo>
                <a:lnTo>
                  <a:pt x="2776941" y="238982"/>
                </a:lnTo>
                <a:lnTo>
                  <a:pt x="2742579" y="260720"/>
                </a:lnTo>
                <a:lnTo>
                  <a:pt x="2708452" y="283041"/>
                </a:lnTo>
                <a:lnTo>
                  <a:pt x="2674555" y="305931"/>
                </a:lnTo>
                <a:lnTo>
                  <a:pt x="2640887" y="329376"/>
                </a:lnTo>
                <a:lnTo>
                  <a:pt x="2607442" y="353363"/>
                </a:lnTo>
                <a:lnTo>
                  <a:pt x="2574219" y="377880"/>
                </a:lnTo>
                <a:lnTo>
                  <a:pt x="2541213" y="402912"/>
                </a:lnTo>
                <a:lnTo>
                  <a:pt x="2508420" y="428447"/>
                </a:lnTo>
                <a:lnTo>
                  <a:pt x="2475838" y="454471"/>
                </a:lnTo>
                <a:lnTo>
                  <a:pt x="2443463" y="480971"/>
                </a:lnTo>
                <a:lnTo>
                  <a:pt x="2411292" y="507934"/>
                </a:lnTo>
                <a:lnTo>
                  <a:pt x="2379320" y="535346"/>
                </a:lnTo>
                <a:lnTo>
                  <a:pt x="2347545" y="563194"/>
                </a:lnTo>
                <a:lnTo>
                  <a:pt x="2315964" y="591465"/>
                </a:lnTo>
                <a:lnTo>
                  <a:pt x="2284572" y="620146"/>
                </a:lnTo>
                <a:lnTo>
                  <a:pt x="2222344" y="678683"/>
                </a:lnTo>
                <a:lnTo>
                  <a:pt x="2160833" y="738699"/>
                </a:lnTo>
                <a:lnTo>
                  <a:pt x="2100012" y="800088"/>
                </a:lnTo>
                <a:lnTo>
                  <a:pt x="2039854" y="862744"/>
                </a:lnTo>
                <a:lnTo>
                  <a:pt x="1980330" y="926561"/>
                </a:lnTo>
                <a:lnTo>
                  <a:pt x="1921414" y="991432"/>
                </a:lnTo>
                <a:lnTo>
                  <a:pt x="1863078" y="1057252"/>
                </a:lnTo>
                <a:lnTo>
                  <a:pt x="1805294" y="1123913"/>
                </a:lnTo>
                <a:lnTo>
                  <a:pt x="1748034" y="1191310"/>
                </a:lnTo>
                <a:lnTo>
                  <a:pt x="1663067" y="1293554"/>
                </a:lnTo>
                <a:lnTo>
                  <a:pt x="1579126" y="1396857"/>
                </a:lnTo>
                <a:lnTo>
                  <a:pt x="1468638" y="1535621"/>
                </a:lnTo>
                <a:lnTo>
                  <a:pt x="1012422" y="2119517"/>
                </a:lnTo>
                <a:lnTo>
                  <a:pt x="907013" y="2250882"/>
                </a:lnTo>
                <a:lnTo>
                  <a:pt x="828151" y="2346786"/>
                </a:lnTo>
                <a:lnTo>
                  <a:pt x="749353" y="2440046"/>
                </a:lnTo>
                <a:lnTo>
                  <a:pt x="696810" y="2500574"/>
                </a:lnTo>
                <a:lnTo>
                  <a:pt x="644226" y="2559660"/>
                </a:lnTo>
                <a:lnTo>
                  <a:pt x="591574" y="2617201"/>
                </a:lnTo>
                <a:lnTo>
                  <a:pt x="538826" y="2673088"/>
                </a:lnTo>
                <a:lnTo>
                  <a:pt x="485954" y="2727216"/>
                </a:lnTo>
                <a:lnTo>
                  <a:pt x="432931" y="2779479"/>
                </a:lnTo>
                <a:lnTo>
                  <a:pt x="379729" y="2829770"/>
                </a:lnTo>
                <a:lnTo>
                  <a:pt x="326322" y="2877984"/>
                </a:lnTo>
                <a:lnTo>
                  <a:pt x="272680" y="2924014"/>
                </a:lnTo>
                <a:lnTo>
                  <a:pt x="218777" y="2967754"/>
                </a:lnTo>
                <a:lnTo>
                  <a:pt x="164585" y="3009099"/>
                </a:lnTo>
                <a:lnTo>
                  <a:pt x="110077" y="3047940"/>
                </a:lnTo>
                <a:lnTo>
                  <a:pt x="55224" y="3084174"/>
                </a:lnTo>
                <a:lnTo>
                  <a:pt x="27660" y="3101279"/>
                </a:lnTo>
                <a:lnTo>
                  <a:pt x="0" y="3117693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65210" y="6526306"/>
            <a:ext cx="5422788" cy="3760693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007793" y="7230864"/>
            <a:ext cx="5280205" cy="305613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87863" y="7934354"/>
            <a:ext cx="3400425" cy="2352675"/>
          </a:xfrm>
          <a:custGeom>
            <a:avLst/>
            <a:gdLst/>
            <a:ahLst/>
            <a:cxnLst/>
            <a:rect l="l" t="t" r="r" b="b"/>
            <a:pathLst>
              <a:path w="3400425" h="2352675">
                <a:moveTo>
                  <a:pt x="0" y="2352645"/>
                </a:moveTo>
                <a:lnTo>
                  <a:pt x="1534752" y="2352645"/>
                </a:lnTo>
                <a:lnTo>
                  <a:pt x="3400135" y="2277105"/>
                </a:lnTo>
                <a:lnTo>
                  <a:pt x="3400135" y="0"/>
                </a:lnTo>
                <a:lnTo>
                  <a:pt x="3380819" y="7473"/>
                </a:lnTo>
                <a:lnTo>
                  <a:pt x="3319572" y="32918"/>
                </a:lnTo>
                <a:lnTo>
                  <a:pt x="3258216" y="60669"/>
                </a:lnTo>
                <a:lnTo>
                  <a:pt x="3196689" y="90663"/>
                </a:lnTo>
                <a:lnTo>
                  <a:pt x="3134929" y="122838"/>
                </a:lnTo>
                <a:lnTo>
                  <a:pt x="3072874" y="157132"/>
                </a:lnTo>
                <a:lnTo>
                  <a:pt x="3010463" y="193483"/>
                </a:lnTo>
                <a:lnTo>
                  <a:pt x="2947633" y="231830"/>
                </a:lnTo>
                <a:lnTo>
                  <a:pt x="2884323" y="272111"/>
                </a:lnTo>
                <a:lnTo>
                  <a:pt x="2820470" y="314264"/>
                </a:lnTo>
                <a:lnTo>
                  <a:pt x="2788321" y="336023"/>
                </a:lnTo>
                <a:lnTo>
                  <a:pt x="2723538" y="380867"/>
                </a:lnTo>
                <a:lnTo>
                  <a:pt x="2658058" y="427428"/>
                </a:lnTo>
                <a:lnTo>
                  <a:pt x="2591819" y="475645"/>
                </a:lnTo>
                <a:lnTo>
                  <a:pt x="2490901" y="550939"/>
                </a:lnTo>
                <a:lnTo>
                  <a:pt x="2353110" y="656546"/>
                </a:lnTo>
                <a:lnTo>
                  <a:pt x="1591970" y="1257300"/>
                </a:lnTo>
                <a:lnTo>
                  <a:pt x="1378212" y="1421753"/>
                </a:lnTo>
                <a:lnTo>
                  <a:pt x="1199098" y="1556077"/>
                </a:lnTo>
                <a:lnTo>
                  <a:pt x="1059708" y="1658107"/>
                </a:lnTo>
                <a:lnTo>
                  <a:pt x="915753" y="1761009"/>
                </a:lnTo>
                <a:lnTo>
                  <a:pt x="767025" y="1864572"/>
                </a:lnTo>
                <a:lnTo>
                  <a:pt x="665118" y="1933879"/>
                </a:lnTo>
                <a:lnTo>
                  <a:pt x="560935" y="2003325"/>
                </a:lnTo>
                <a:lnTo>
                  <a:pt x="454413" y="2072849"/>
                </a:lnTo>
                <a:lnTo>
                  <a:pt x="345491" y="2142389"/>
                </a:lnTo>
                <a:lnTo>
                  <a:pt x="234107" y="2211883"/>
                </a:lnTo>
                <a:lnTo>
                  <a:pt x="120198" y="2281269"/>
                </a:lnTo>
                <a:lnTo>
                  <a:pt x="3704" y="2350486"/>
                </a:lnTo>
                <a:lnTo>
                  <a:pt x="0" y="2352645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816585" y="8423197"/>
            <a:ext cx="3471413" cy="186380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932721" y="8646758"/>
            <a:ext cx="3355278" cy="1640241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6747658" y="9814760"/>
            <a:ext cx="1540510" cy="472440"/>
          </a:xfrm>
          <a:custGeom>
            <a:avLst/>
            <a:gdLst/>
            <a:ahLst/>
            <a:cxnLst/>
            <a:rect l="l" t="t" r="r" b="b"/>
            <a:pathLst>
              <a:path w="1540509" h="472440">
                <a:moveTo>
                  <a:pt x="0" y="472238"/>
                </a:moveTo>
                <a:lnTo>
                  <a:pt x="1540341" y="472238"/>
                </a:lnTo>
                <a:lnTo>
                  <a:pt x="1540341" y="0"/>
                </a:lnTo>
                <a:lnTo>
                  <a:pt x="1498635" y="5871"/>
                </a:lnTo>
                <a:lnTo>
                  <a:pt x="1460587" y="11692"/>
                </a:lnTo>
                <a:lnTo>
                  <a:pt x="1422799" y="17894"/>
                </a:lnTo>
                <a:lnTo>
                  <a:pt x="1385260" y="24467"/>
                </a:lnTo>
                <a:lnTo>
                  <a:pt x="1310884" y="38694"/>
                </a:lnTo>
                <a:lnTo>
                  <a:pt x="1237370" y="54299"/>
                </a:lnTo>
                <a:lnTo>
                  <a:pt x="1164629" y="71208"/>
                </a:lnTo>
                <a:lnTo>
                  <a:pt x="1092573" y="89350"/>
                </a:lnTo>
                <a:lnTo>
                  <a:pt x="1021110" y="108650"/>
                </a:lnTo>
                <a:lnTo>
                  <a:pt x="950153" y="129037"/>
                </a:lnTo>
                <a:lnTo>
                  <a:pt x="879611" y="150436"/>
                </a:lnTo>
                <a:lnTo>
                  <a:pt x="809396" y="172774"/>
                </a:lnTo>
                <a:lnTo>
                  <a:pt x="704491" y="207884"/>
                </a:lnTo>
                <a:lnTo>
                  <a:pt x="564928" y="257303"/>
                </a:lnTo>
                <a:lnTo>
                  <a:pt x="0" y="472238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7256545" y="9973678"/>
            <a:ext cx="965835" cy="313690"/>
          </a:xfrm>
          <a:custGeom>
            <a:avLst/>
            <a:gdLst/>
            <a:ahLst/>
            <a:cxnLst/>
            <a:rect l="l" t="t" r="r" b="b"/>
            <a:pathLst>
              <a:path w="965834" h="313690">
                <a:moveTo>
                  <a:pt x="74015" y="288239"/>
                </a:moveTo>
                <a:lnTo>
                  <a:pt x="72377" y="272986"/>
                </a:lnTo>
                <a:lnTo>
                  <a:pt x="65074" y="259842"/>
                </a:lnTo>
                <a:lnTo>
                  <a:pt x="53428" y="251244"/>
                </a:lnTo>
                <a:lnTo>
                  <a:pt x="39128" y="247954"/>
                </a:lnTo>
                <a:lnTo>
                  <a:pt x="23876" y="250736"/>
                </a:lnTo>
                <a:lnTo>
                  <a:pt x="11874" y="258038"/>
                </a:lnTo>
                <a:lnTo>
                  <a:pt x="3657" y="269697"/>
                </a:lnTo>
                <a:lnTo>
                  <a:pt x="0" y="284010"/>
                </a:lnTo>
                <a:lnTo>
                  <a:pt x="1638" y="299262"/>
                </a:lnTo>
                <a:lnTo>
                  <a:pt x="7581" y="309029"/>
                </a:lnTo>
                <a:lnTo>
                  <a:pt x="12166" y="313321"/>
                </a:lnTo>
                <a:lnTo>
                  <a:pt x="62763" y="313321"/>
                </a:lnTo>
                <a:lnTo>
                  <a:pt x="70358" y="302552"/>
                </a:lnTo>
                <a:lnTo>
                  <a:pt x="74015" y="288239"/>
                </a:lnTo>
                <a:close/>
              </a:path>
              <a:path w="965834" h="313690">
                <a:moveTo>
                  <a:pt x="248958" y="226402"/>
                </a:moveTo>
                <a:lnTo>
                  <a:pt x="246176" y="212318"/>
                </a:lnTo>
                <a:lnTo>
                  <a:pt x="238912" y="199174"/>
                </a:lnTo>
                <a:lnTo>
                  <a:pt x="227482" y="190576"/>
                </a:lnTo>
                <a:lnTo>
                  <a:pt x="213779" y="187299"/>
                </a:lnTo>
                <a:lnTo>
                  <a:pt x="199694" y="190068"/>
                </a:lnTo>
                <a:lnTo>
                  <a:pt x="186550" y="197345"/>
                </a:lnTo>
                <a:lnTo>
                  <a:pt x="177965" y="208775"/>
                </a:lnTo>
                <a:lnTo>
                  <a:pt x="174688" y="222491"/>
                </a:lnTo>
                <a:lnTo>
                  <a:pt x="177457" y="236588"/>
                </a:lnTo>
                <a:lnTo>
                  <a:pt x="183400" y="247484"/>
                </a:lnTo>
                <a:lnTo>
                  <a:pt x="191604" y="255536"/>
                </a:lnTo>
                <a:lnTo>
                  <a:pt x="201333" y="260184"/>
                </a:lnTo>
                <a:lnTo>
                  <a:pt x="211823" y="260845"/>
                </a:lnTo>
                <a:lnTo>
                  <a:pt x="219900" y="260845"/>
                </a:lnTo>
                <a:lnTo>
                  <a:pt x="223939" y="258826"/>
                </a:lnTo>
                <a:lnTo>
                  <a:pt x="237083" y="251561"/>
                </a:lnTo>
                <a:lnTo>
                  <a:pt x="245668" y="240118"/>
                </a:lnTo>
                <a:lnTo>
                  <a:pt x="248958" y="226402"/>
                </a:lnTo>
                <a:close/>
              </a:path>
              <a:path w="965834" h="313690">
                <a:moveTo>
                  <a:pt x="420941" y="313321"/>
                </a:moveTo>
                <a:lnTo>
                  <a:pt x="419976" y="303314"/>
                </a:lnTo>
                <a:lnTo>
                  <a:pt x="413029" y="291274"/>
                </a:lnTo>
                <a:lnTo>
                  <a:pt x="402297" y="282841"/>
                </a:lnTo>
                <a:lnTo>
                  <a:pt x="389280" y="278574"/>
                </a:lnTo>
                <a:lnTo>
                  <a:pt x="375513" y="279044"/>
                </a:lnTo>
                <a:lnTo>
                  <a:pt x="363486" y="286004"/>
                </a:lnTo>
                <a:lnTo>
                  <a:pt x="355053" y="296735"/>
                </a:lnTo>
                <a:lnTo>
                  <a:pt x="350786" y="309753"/>
                </a:lnTo>
                <a:lnTo>
                  <a:pt x="350913" y="313321"/>
                </a:lnTo>
                <a:lnTo>
                  <a:pt x="420941" y="313321"/>
                </a:lnTo>
                <a:close/>
              </a:path>
              <a:path w="965834" h="313690">
                <a:moveTo>
                  <a:pt x="425627" y="170637"/>
                </a:moveTo>
                <a:lnTo>
                  <a:pt x="424014" y="155702"/>
                </a:lnTo>
                <a:lnTo>
                  <a:pt x="417042" y="142519"/>
                </a:lnTo>
                <a:lnTo>
                  <a:pt x="406082" y="133705"/>
                </a:lnTo>
                <a:lnTo>
                  <a:pt x="392468" y="129819"/>
                </a:lnTo>
                <a:lnTo>
                  <a:pt x="377532" y="131432"/>
                </a:lnTo>
                <a:lnTo>
                  <a:pt x="364363" y="138417"/>
                </a:lnTo>
                <a:lnTo>
                  <a:pt x="355561" y="149377"/>
                </a:lnTo>
                <a:lnTo>
                  <a:pt x="351675" y="162991"/>
                </a:lnTo>
                <a:lnTo>
                  <a:pt x="353288" y="177939"/>
                </a:lnTo>
                <a:lnTo>
                  <a:pt x="358394" y="188874"/>
                </a:lnTo>
                <a:lnTo>
                  <a:pt x="366928" y="197154"/>
                </a:lnTo>
                <a:lnTo>
                  <a:pt x="377329" y="202209"/>
                </a:lnTo>
                <a:lnTo>
                  <a:pt x="376491" y="202209"/>
                </a:lnTo>
                <a:lnTo>
                  <a:pt x="389661" y="204228"/>
                </a:lnTo>
                <a:lnTo>
                  <a:pt x="391680" y="204228"/>
                </a:lnTo>
                <a:lnTo>
                  <a:pt x="395719" y="202209"/>
                </a:lnTo>
                <a:lnTo>
                  <a:pt x="399770" y="202209"/>
                </a:lnTo>
                <a:lnTo>
                  <a:pt x="412940" y="195224"/>
                </a:lnTo>
                <a:lnTo>
                  <a:pt x="421741" y="184264"/>
                </a:lnTo>
                <a:lnTo>
                  <a:pt x="425627" y="170637"/>
                </a:lnTo>
                <a:close/>
              </a:path>
              <a:path w="965834" h="313690">
                <a:moveTo>
                  <a:pt x="595109" y="269697"/>
                </a:moveTo>
                <a:lnTo>
                  <a:pt x="593775" y="254787"/>
                </a:lnTo>
                <a:lnTo>
                  <a:pt x="587108" y="242455"/>
                </a:lnTo>
                <a:lnTo>
                  <a:pt x="576846" y="233553"/>
                </a:lnTo>
                <a:lnTo>
                  <a:pt x="563930" y="229184"/>
                </a:lnTo>
                <a:lnTo>
                  <a:pt x="549313" y="230517"/>
                </a:lnTo>
                <a:lnTo>
                  <a:pt x="537006" y="237185"/>
                </a:lnTo>
                <a:lnTo>
                  <a:pt x="528091" y="247446"/>
                </a:lnTo>
                <a:lnTo>
                  <a:pt x="523735" y="260375"/>
                </a:lnTo>
                <a:lnTo>
                  <a:pt x="525068" y="275005"/>
                </a:lnTo>
                <a:lnTo>
                  <a:pt x="529869" y="285940"/>
                </a:lnTo>
                <a:lnTo>
                  <a:pt x="537692" y="294208"/>
                </a:lnTo>
                <a:lnTo>
                  <a:pt x="547433" y="299262"/>
                </a:lnTo>
                <a:lnTo>
                  <a:pt x="546608" y="299262"/>
                </a:lnTo>
                <a:lnTo>
                  <a:pt x="559422" y="301294"/>
                </a:lnTo>
                <a:lnTo>
                  <a:pt x="563460" y="299262"/>
                </a:lnTo>
                <a:lnTo>
                  <a:pt x="569531" y="299262"/>
                </a:lnTo>
                <a:lnTo>
                  <a:pt x="581837" y="293458"/>
                </a:lnTo>
                <a:lnTo>
                  <a:pt x="590740" y="283095"/>
                </a:lnTo>
                <a:lnTo>
                  <a:pt x="595109" y="269697"/>
                </a:lnTo>
                <a:close/>
              </a:path>
              <a:path w="965834" h="313690">
                <a:moveTo>
                  <a:pt x="603161" y="120091"/>
                </a:moveTo>
                <a:lnTo>
                  <a:pt x="601865" y="105143"/>
                </a:lnTo>
                <a:lnTo>
                  <a:pt x="594880" y="91655"/>
                </a:lnTo>
                <a:lnTo>
                  <a:pt x="583920" y="82143"/>
                </a:lnTo>
                <a:lnTo>
                  <a:pt x="570318" y="77558"/>
                </a:lnTo>
                <a:lnTo>
                  <a:pt x="555383" y="78854"/>
                </a:lnTo>
                <a:lnTo>
                  <a:pt x="541896" y="85813"/>
                </a:lnTo>
                <a:lnTo>
                  <a:pt x="532396" y="96545"/>
                </a:lnTo>
                <a:lnTo>
                  <a:pt x="527812" y="109562"/>
                </a:lnTo>
                <a:lnTo>
                  <a:pt x="529107" y="123342"/>
                </a:lnTo>
                <a:lnTo>
                  <a:pt x="534225" y="134594"/>
                </a:lnTo>
                <a:lnTo>
                  <a:pt x="542747" y="143560"/>
                </a:lnTo>
                <a:lnTo>
                  <a:pt x="553542" y="149504"/>
                </a:lnTo>
                <a:lnTo>
                  <a:pt x="565480" y="151650"/>
                </a:lnTo>
                <a:lnTo>
                  <a:pt x="575589" y="151650"/>
                </a:lnTo>
                <a:lnTo>
                  <a:pt x="589076" y="144665"/>
                </a:lnTo>
                <a:lnTo>
                  <a:pt x="598576" y="133705"/>
                </a:lnTo>
                <a:lnTo>
                  <a:pt x="603161" y="120091"/>
                </a:lnTo>
                <a:close/>
              </a:path>
              <a:path w="965834" h="313690">
                <a:moveTo>
                  <a:pt x="769759" y="226910"/>
                </a:moveTo>
                <a:lnTo>
                  <a:pt x="769620" y="214744"/>
                </a:lnTo>
                <a:lnTo>
                  <a:pt x="769594" y="212318"/>
                </a:lnTo>
                <a:lnTo>
                  <a:pt x="764108" y="199961"/>
                </a:lnTo>
                <a:lnTo>
                  <a:pt x="754443" y="190830"/>
                </a:lnTo>
                <a:lnTo>
                  <a:pt x="741743" y="185877"/>
                </a:lnTo>
                <a:lnTo>
                  <a:pt x="727494" y="185877"/>
                </a:lnTo>
                <a:lnTo>
                  <a:pt x="714819" y="191808"/>
                </a:lnTo>
                <a:lnTo>
                  <a:pt x="705688" y="201955"/>
                </a:lnTo>
                <a:lnTo>
                  <a:pt x="700735" y="214744"/>
                </a:lnTo>
                <a:lnTo>
                  <a:pt x="700874" y="226910"/>
                </a:lnTo>
                <a:lnTo>
                  <a:pt x="700887" y="228498"/>
                </a:lnTo>
                <a:lnTo>
                  <a:pt x="705637" y="239610"/>
                </a:lnTo>
                <a:lnTo>
                  <a:pt x="713524" y="248716"/>
                </a:lnTo>
                <a:lnTo>
                  <a:pt x="723620" y="254660"/>
                </a:lnTo>
                <a:lnTo>
                  <a:pt x="735241" y="256806"/>
                </a:lnTo>
                <a:lnTo>
                  <a:pt x="739279" y="256806"/>
                </a:lnTo>
                <a:lnTo>
                  <a:pt x="743610" y="254660"/>
                </a:lnTo>
                <a:lnTo>
                  <a:pt x="755675" y="249288"/>
                </a:lnTo>
                <a:lnTo>
                  <a:pt x="764794" y="239610"/>
                </a:lnTo>
                <a:lnTo>
                  <a:pt x="769759" y="226910"/>
                </a:lnTo>
                <a:close/>
              </a:path>
              <a:path w="965834" h="313690">
                <a:moveTo>
                  <a:pt x="783869" y="77597"/>
                </a:moveTo>
                <a:lnTo>
                  <a:pt x="783742" y="62674"/>
                </a:lnTo>
                <a:lnTo>
                  <a:pt x="777938" y="49161"/>
                </a:lnTo>
                <a:lnTo>
                  <a:pt x="767575" y="39420"/>
                </a:lnTo>
                <a:lnTo>
                  <a:pt x="754189" y="34239"/>
                </a:lnTo>
                <a:lnTo>
                  <a:pt x="739584" y="34239"/>
                </a:lnTo>
                <a:lnTo>
                  <a:pt x="725766" y="40182"/>
                </a:lnTo>
                <a:lnTo>
                  <a:pt x="716038" y="50546"/>
                </a:lnTo>
                <a:lnTo>
                  <a:pt x="710869" y="63944"/>
                </a:lnTo>
                <a:lnTo>
                  <a:pt x="710996" y="78854"/>
                </a:lnTo>
                <a:lnTo>
                  <a:pt x="715822" y="90957"/>
                </a:lnTo>
                <a:lnTo>
                  <a:pt x="723874" y="99834"/>
                </a:lnTo>
                <a:lnTo>
                  <a:pt x="734580" y="105308"/>
                </a:lnTo>
                <a:lnTo>
                  <a:pt x="747369" y="107162"/>
                </a:lnTo>
                <a:lnTo>
                  <a:pt x="749388" y="109194"/>
                </a:lnTo>
                <a:lnTo>
                  <a:pt x="751408" y="109194"/>
                </a:lnTo>
                <a:lnTo>
                  <a:pt x="755446" y="107162"/>
                </a:lnTo>
                <a:lnTo>
                  <a:pt x="768972" y="101358"/>
                </a:lnTo>
                <a:lnTo>
                  <a:pt x="778700" y="90957"/>
                </a:lnTo>
                <a:lnTo>
                  <a:pt x="783869" y="77597"/>
                </a:lnTo>
                <a:close/>
              </a:path>
              <a:path w="965834" h="313690">
                <a:moveTo>
                  <a:pt x="918337" y="313321"/>
                </a:moveTo>
                <a:lnTo>
                  <a:pt x="913345" y="308114"/>
                </a:lnTo>
                <a:lnTo>
                  <a:pt x="901941" y="303161"/>
                </a:lnTo>
                <a:lnTo>
                  <a:pt x="888834" y="303314"/>
                </a:lnTo>
                <a:lnTo>
                  <a:pt x="876490" y="308457"/>
                </a:lnTo>
                <a:lnTo>
                  <a:pt x="871423" y="313321"/>
                </a:lnTo>
                <a:lnTo>
                  <a:pt x="918337" y="313321"/>
                </a:lnTo>
                <a:close/>
              </a:path>
              <a:path w="965834" h="313690">
                <a:moveTo>
                  <a:pt x="947572" y="193395"/>
                </a:moveTo>
                <a:lnTo>
                  <a:pt x="947445" y="179959"/>
                </a:lnTo>
                <a:lnTo>
                  <a:pt x="941984" y="167297"/>
                </a:lnTo>
                <a:lnTo>
                  <a:pt x="932535" y="157467"/>
                </a:lnTo>
                <a:lnTo>
                  <a:pt x="920102" y="151650"/>
                </a:lnTo>
                <a:lnTo>
                  <a:pt x="907021" y="151650"/>
                </a:lnTo>
                <a:lnTo>
                  <a:pt x="893508" y="157124"/>
                </a:lnTo>
                <a:lnTo>
                  <a:pt x="883780" y="166573"/>
                </a:lnTo>
                <a:lnTo>
                  <a:pt x="878598" y="178663"/>
                </a:lnTo>
                <a:lnTo>
                  <a:pt x="878725" y="192100"/>
                </a:lnTo>
                <a:lnTo>
                  <a:pt x="883526" y="204508"/>
                </a:lnTo>
                <a:lnTo>
                  <a:pt x="891362" y="214083"/>
                </a:lnTo>
                <a:lnTo>
                  <a:pt x="901471" y="220243"/>
                </a:lnTo>
                <a:lnTo>
                  <a:pt x="913091" y="222427"/>
                </a:lnTo>
                <a:lnTo>
                  <a:pt x="913091" y="220243"/>
                </a:lnTo>
                <a:lnTo>
                  <a:pt x="919543" y="220243"/>
                </a:lnTo>
                <a:lnTo>
                  <a:pt x="932662" y="214934"/>
                </a:lnTo>
                <a:lnTo>
                  <a:pt x="942390" y="205498"/>
                </a:lnTo>
                <a:lnTo>
                  <a:pt x="947572" y="193395"/>
                </a:lnTo>
                <a:close/>
              </a:path>
              <a:path w="965834" h="313690">
                <a:moveTo>
                  <a:pt x="965631" y="30327"/>
                </a:moveTo>
                <a:lnTo>
                  <a:pt x="960132" y="16484"/>
                </a:lnTo>
                <a:lnTo>
                  <a:pt x="950480" y="6057"/>
                </a:lnTo>
                <a:lnTo>
                  <a:pt x="937374" y="0"/>
                </a:lnTo>
                <a:lnTo>
                  <a:pt x="923188" y="0"/>
                </a:lnTo>
                <a:lnTo>
                  <a:pt x="909358" y="5486"/>
                </a:lnTo>
                <a:lnTo>
                  <a:pt x="898944" y="15163"/>
                </a:lnTo>
                <a:lnTo>
                  <a:pt x="893064" y="27863"/>
                </a:lnTo>
                <a:lnTo>
                  <a:pt x="892873" y="42456"/>
                </a:lnTo>
                <a:lnTo>
                  <a:pt x="897712" y="54876"/>
                </a:lnTo>
                <a:lnTo>
                  <a:pt x="905764" y="64452"/>
                </a:lnTo>
                <a:lnTo>
                  <a:pt x="916470" y="70612"/>
                </a:lnTo>
                <a:lnTo>
                  <a:pt x="929259" y="72796"/>
                </a:lnTo>
                <a:lnTo>
                  <a:pt x="931278" y="74815"/>
                </a:lnTo>
                <a:lnTo>
                  <a:pt x="933297" y="72796"/>
                </a:lnTo>
                <a:lnTo>
                  <a:pt x="935316" y="72796"/>
                </a:lnTo>
                <a:lnTo>
                  <a:pt x="949147" y="67297"/>
                </a:lnTo>
                <a:lnTo>
                  <a:pt x="959573" y="57619"/>
                </a:lnTo>
                <a:lnTo>
                  <a:pt x="965441" y="44919"/>
                </a:lnTo>
                <a:lnTo>
                  <a:pt x="965631" y="30327"/>
                </a:lnTo>
                <a:close/>
              </a:path>
            </a:pathLst>
          </a:custGeom>
          <a:solidFill>
            <a:srgbClr val="2E4D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1356624"/>
            <a:ext cx="3295650" cy="3117850"/>
          </a:xfrm>
          <a:custGeom>
            <a:avLst/>
            <a:gdLst/>
            <a:ahLst/>
            <a:cxnLst/>
            <a:rect l="l" t="t" r="r" b="b"/>
            <a:pathLst>
              <a:path w="3295650" h="3117850">
                <a:moveTo>
                  <a:pt x="3295146" y="0"/>
                </a:moveTo>
                <a:lnTo>
                  <a:pt x="0" y="319070"/>
                </a:lnTo>
                <a:lnTo>
                  <a:pt x="0" y="3117650"/>
                </a:lnTo>
                <a:lnTo>
                  <a:pt x="48587" y="3102301"/>
                </a:lnTo>
                <a:lnTo>
                  <a:pt x="86312" y="3089338"/>
                </a:lnTo>
                <a:lnTo>
                  <a:pt x="123757" y="3075620"/>
                </a:lnTo>
                <a:lnTo>
                  <a:pt x="160927" y="3061160"/>
                </a:lnTo>
                <a:lnTo>
                  <a:pt x="197824" y="3045973"/>
                </a:lnTo>
                <a:lnTo>
                  <a:pt x="234452" y="3030070"/>
                </a:lnTo>
                <a:lnTo>
                  <a:pt x="270814" y="3013467"/>
                </a:lnTo>
                <a:lnTo>
                  <a:pt x="306915" y="2996174"/>
                </a:lnTo>
                <a:lnTo>
                  <a:pt x="342756" y="2978207"/>
                </a:lnTo>
                <a:lnTo>
                  <a:pt x="378343" y="2959578"/>
                </a:lnTo>
                <a:lnTo>
                  <a:pt x="413677" y="2940301"/>
                </a:lnTo>
                <a:lnTo>
                  <a:pt x="448763" y="2920388"/>
                </a:lnTo>
                <a:lnTo>
                  <a:pt x="483605" y="2899854"/>
                </a:lnTo>
                <a:lnTo>
                  <a:pt x="518205" y="2878710"/>
                </a:lnTo>
                <a:lnTo>
                  <a:pt x="552567" y="2856972"/>
                </a:lnTo>
                <a:lnTo>
                  <a:pt x="586694" y="2834651"/>
                </a:lnTo>
                <a:lnTo>
                  <a:pt x="620590" y="2811761"/>
                </a:lnTo>
                <a:lnTo>
                  <a:pt x="654259" y="2788316"/>
                </a:lnTo>
                <a:lnTo>
                  <a:pt x="687703" y="2764329"/>
                </a:lnTo>
                <a:lnTo>
                  <a:pt x="720927" y="2739812"/>
                </a:lnTo>
                <a:lnTo>
                  <a:pt x="753933" y="2714780"/>
                </a:lnTo>
                <a:lnTo>
                  <a:pt x="786726" y="2689245"/>
                </a:lnTo>
                <a:lnTo>
                  <a:pt x="819308" y="2663221"/>
                </a:lnTo>
                <a:lnTo>
                  <a:pt x="851683" y="2636721"/>
                </a:lnTo>
                <a:lnTo>
                  <a:pt x="883854" y="2609758"/>
                </a:lnTo>
                <a:lnTo>
                  <a:pt x="915826" y="2582346"/>
                </a:lnTo>
                <a:lnTo>
                  <a:pt x="947600" y="2554498"/>
                </a:lnTo>
                <a:lnTo>
                  <a:pt x="979182" y="2526227"/>
                </a:lnTo>
                <a:lnTo>
                  <a:pt x="1010574" y="2497546"/>
                </a:lnTo>
                <a:lnTo>
                  <a:pt x="1072802" y="2439009"/>
                </a:lnTo>
                <a:lnTo>
                  <a:pt x="1134313" y="2378993"/>
                </a:lnTo>
                <a:lnTo>
                  <a:pt x="1195134" y="2317604"/>
                </a:lnTo>
                <a:lnTo>
                  <a:pt x="1255292" y="2254948"/>
                </a:lnTo>
                <a:lnTo>
                  <a:pt x="1314815" y="2191131"/>
                </a:lnTo>
                <a:lnTo>
                  <a:pt x="1373731" y="2126260"/>
                </a:lnTo>
                <a:lnTo>
                  <a:pt x="1432068" y="2060440"/>
                </a:lnTo>
                <a:lnTo>
                  <a:pt x="1489852" y="1993779"/>
                </a:lnTo>
                <a:lnTo>
                  <a:pt x="1547112" y="1926382"/>
                </a:lnTo>
                <a:lnTo>
                  <a:pt x="1632078" y="1824138"/>
                </a:lnTo>
                <a:lnTo>
                  <a:pt x="1716020" y="1720835"/>
                </a:lnTo>
                <a:lnTo>
                  <a:pt x="1826508" y="1582071"/>
                </a:lnTo>
                <a:lnTo>
                  <a:pt x="2282724" y="998175"/>
                </a:lnTo>
                <a:lnTo>
                  <a:pt x="2388132" y="866810"/>
                </a:lnTo>
                <a:lnTo>
                  <a:pt x="2466994" y="770906"/>
                </a:lnTo>
                <a:lnTo>
                  <a:pt x="2545793" y="677646"/>
                </a:lnTo>
                <a:lnTo>
                  <a:pt x="2598336" y="617118"/>
                </a:lnTo>
                <a:lnTo>
                  <a:pt x="2650920" y="558032"/>
                </a:lnTo>
                <a:lnTo>
                  <a:pt x="2703572" y="500491"/>
                </a:lnTo>
                <a:lnTo>
                  <a:pt x="2756320" y="444604"/>
                </a:lnTo>
                <a:lnTo>
                  <a:pt x="2809192" y="390476"/>
                </a:lnTo>
                <a:lnTo>
                  <a:pt x="2862215" y="338213"/>
                </a:lnTo>
                <a:lnTo>
                  <a:pt x="2915416" y="287922"/>
                </a:lnTo>
                <a:lnTo>
                  <a:pt x="2968824" y="239708"/>
                </a:lnTo>
                <a:lnTo>
                  <a:pt x="3022465" y="193678"/>
                </a:lnTo>
                <a:lnTo>
                  <a:pt x="3076368" y="149938"/>
                </a:lnTo>
                <a:lnTo>
                  <a:pt x="3130560" y="108594"/>
                </a:lnTo>
                <a:lnTo>
                  <a:pt x="3185069" y="69752"/>
                </a:lnTo>
                <a:lnTo>
                  <a:pt x="3239922" y="33518"/>
                </a:lnTo>
                <a:lnTo>
                  <a:pt x="3267486" y="16413"/>
                </a:lnTo>
                <a:lnTo>
                  <a:pt x="3295146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5422359" cy="376053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5279780" cy="305598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0"/>
            <a:ext cx="3399790" cy="2352675"/>
          </a:xfrm>
          <a:custGeom>
            <a:avLst/>
            <a:gdLst/>
            <a:ahLst/>
            <a:cxnLst/>
            <a:rect l="l" t="t" r="r" b="b"/>
            <a:pathLst>
              <a:path w="3399790" h="2352675">
                <a:moveTo>
                  <a:pt x="3399780" y="0"/>
                </a:moveTo>
                <a:lnTo>
                  <a:pt x="1862198" y="0"/>
                </a:lnTo>
                <a:lnTo>
                  <a:pt x="0" y="75411"/>
                </a:lnTo>
                <a:lnTo>
                  <a:pt x="0" y="2352466"/>
                </a:lnTo>
                <a:lnTo>
                  <a:pt x="19172" y="2345049"/>
                </a:lnTo>
                <a:lnTo>
                  <a:pt x="80419" y="2319603"/>
                </a:lnTo>
                <a:lnTo>
                  <a:pt x="141775" y="2291852"/>
                </a:lnTo>
                <a:lnTo>
                  <a:pt x="203303" y="2261859"/>
                </a:lnTo>
                <a:lnTo>
                  <a:pt x="265062" y="2229684"/>
                </a:lnTo>
                <a:lnTo>
                  <a:pt x="327117" y="2195390"/>
                </a:lnTo>
                <a:lnTo>
                  <a:pt x="389528" y="2159038"/>
                </a:lnTo>
                <a:lnTo>
                  <a:pt x="452358" y="2120691"/>
                </a:lnTo>
                <a:lnTo>
                  <a:pt x="515669" y="2080410"/>
                </a:lnTo>
                <a:lnTo>
                  <a:pt x="579521" y="2038258"/>
                </a:lnTo>
                <a:lnTo>
                  <a:pt x="611671" y="2016499"/>
                </a:lnTo>
                <a:lnTo>
                  <a:pt x="676453" y="1971654"/>
                </a:lnTo>
                <a:lnTo>
                  <a:pt x="741933" y="1925093"/>
                </a:lnTo>
                <a:lnTo>
                  <a:pt x="808172" y="1876876"/>
                </a:lnTo>
                <a:lnTo>
                  <a:pt x="909090" y="1801582"/>
                </a:lnTo>
                <a:lnTo>
                  <a:pt x="1046882" y="1695975"/>
                </a:lnTo>
                <a:lnTo>
                  <a:pt x="1808021" y="1095221"/>
                </a:lnTo>
                <a:lnTo>
                  <a:pt x="2021779" y="930769"/>
                </a:lnTo>
                <a:lnTo>
                  <a:pt x="2200893" y="796444"/>
                </a:lnTo>
                <a:lnTo>
                  <a:pt x="2340283" y="694414"/>
                </a:lnTo>
                <a:lnTo>
                  <a:pt x="2484238" y="591513"/>
                </a:lnTo>
                <a:lnTo>
                  <a:pt x="2632966" y="487950"/>
                </a:lnTo>
                <a:lnTo>
                  <a:pt x="2734873" y="418643"/>
                </a:lnTo>
                <a:lnTo>
                  <a:pt x="2839056" y="349196"/>
                </a:lnTo>
                <a:lnTo>
                  <a:pt x="2945578" y="279672"/>
                </a:lnTo>
                <a:lnTo>
                  <a:pt x="3054500" y="210132"/>
                </a:lnTo>
                <a:lnTo>
                  <a:pt x="3165884" y="140638"/>
                </a:lnTo>
                <a:lnTo>
                  <a:pt x="3279792" y="71252"/>
                </a:lnTo>
                <a:lnTo>
                  <a:pt x="3396287" y="2036"/>
                </a:lnTo>
                <a:lnTo>
                  <a:pt x="3399780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3470998" cy="186365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0" y="0"/>
            <a:ext cx="3354848" cy="1640092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0" y="0"/>
            <a:ext cx="1539875" cy="472440"/>
          </a:xfrm>
          <a:custGeom>
            <a:avLst/>
            <a:gdLst/>
            <a:ahLst/>
            <a:cxnLst/>
            <a:rect l="l" t="t" r="r" b="b"/>
            <a:pathLst>
              <a:path w="1539875" h="472440">
                <a:moveTo>
                  <a:pt x="1539874" y="0"/>
                </a:moveTo>
                <a:lnTo>
                  <a:pt x="0" y="0"/>
                </a:lnTo>
                <a:lnTo>
                  <a:pt x="0" y="472096"/>
                </a:lnTo>
                <a:lnTo>
                  <a:pt x="41561" y="466243"/>
                </a:lnTo>
                <a:lnTo>
                  <a:pt x="79609" y="460423"/>
                </a:lnTo>
                <a:lnTo>
                  <a:pt x="117398" y="454221"/>
                </a:lnTo>
                <a:lnTo>
                  <a:pt x="154937" y="447647"/>
                </a:lnTo>
                <a:lnTo>
                  <a:pt x="229313" y="433421"/>
                </a:lnTo>
                <a:lnTo>
                  <a:pt x="302826" y="417816"/>
                </a:lnTo>
                <a:lnTo>
                  <a:pt x="375567" y="400906"/>
                </a:lnTo>
                <a:lnTo>
                  <a:pt x="447624" y="382765"/>
                </a:lnTo>
                <a:lnTo>
                  <a:pt x="519086" y="363464"/>
                </a:lnTo>
                <a:lnTo>
                  <a:pt x="590044" y="343078"/>
                </a:lnTo>
                <a:lnTo>
                  <a:pt x="660585" y="321679"/>
                </a:lnTo>
                <a:lnTo>
                  <a:pt x="730800" y="299340"/>
                </a:lnTo>
                <a:lnTo>
                  <a:pt x="835705" y="264231"/>
                </a:lnTo>
                <a:lnTo>
                  <a:pt x="975269" y="214811"/>
                </a:lnTo>
                <a:lnTo>
                  <a:pt x="1539874" y="0"/>
                </a:lnTo>
                <a:close/>
              </a:path>
            </a:pathLst>
          </a:custGeom>
          <a:solidFill>
            <a:srgbClr val="293F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5671" y="11"/>
            <a:ext cx="965835" cy="313690"/>
          </a:xfrm>
          <a:custGeom>
            <a:avLst/>
            <a:gdLst/>
            <a:ahLst/>
            <a:cxnLst/>
            <a:rect l="l" t="t" r="r" b="b"/>
            <a:pathLst>
              <a:path w="965835" h="313690">
                <a:moveTo>
                  <a:pt x="72745" y="270738"/>
                </a:moveTo>
                <a:lnTo>
                  <a:pt x="67919" y="258318"/>
                </a:lnTo>
                <a:lnTo>
                  <a:pt x="59867" y="248754"/>
                </a:lnTo>
                <a:lnTo>
                  <a:pt x="49161" y="242582"/>
                </a:lnTo>
                <a:lnTo>
                  <a:pt x="36372" y="240411"/>
                </a:lnTo>
                <a:lnTo>
                  <a:pt x="34353" y="238391"/>
                </a:lnTo>
                <a:lnTo>
                  <a:pt x="32334" y="240411"/>
                </a:lnTo>
                <a:lnTo>
                  <a:pt x="30314" y="240411"/>
                </a:lnTo>
                <a:lnTo>
                  <a:pt x="16484" y="245910"/>
                </a:lnTo>
                <a:lnTo>
                  <a:pt x="6057" y="255574"/>
                </a:lnTo>
                <a:lnTo>
                  <a:pt x="190" y="268274"/>
                </a:lnTo>
                <a:lnTo>
                  <a:pt x="0" y="282867"/>
                </a:lnTo>
                <a:lnTo>
                  <a:pt x="5486" y="296710"/>
                </a:lnTo>
                <a:lnTo>
                  <a:pt x="15151" y="307136"/>
                </a:lnTo>
                <a:lnTo>
                  <a:pt x="28257" y="313207"/>
                </a:lnTo>
                <a:lnTo>
                  <a:pt x="42430" y="313207"/>
                </a:lnTo>
                <a:lnTo>
                  <a:pt x="56261" y="307708"/>
                </a:lnTo>
                <a:lnTo>
                  <a:pt x="66687" y="298043"/>
                </a:lnTo>
                <a:lnTo>
                  <a:pt x="72555" y="285330"/>
                </a:lnTo>
                <a:lnTo>
                  <a:pt x="72745" y="270738"/>
                </a:lnTo>
                <a:close/>
              </a:path>
              <a:path w="965835" h="313690">
                <a:moveTo>
                  <a:pt x="87020" y="134531"/>
                </a:moveTo>
                <a:lnTo>
                  <a:pt x="64160" y="92951"/>
                </a:lnTo>
                <a:lnTo>
                  <a:pt x="52539" y="90766"/>
                </a:lnTo>
                <a:lnTo>
                  <a:pt x="52539" y="92951"/>
                </a:lnTo>
                <a:lnTo>
                  <a:pt x="46088" y="92951"/>
                </a:lnTo>
                <a:lnTo>
                  <a:pt x="32969" y="98259"/>
                </a:lnTo>
                <a:lnTo>
                  <a:pt x="23241" y="107708"/>
                </a:lnTo>
                <a:lnTo>
                  <a:pt x="18059" y="119811"/>
                </a:lnTo>
                <a:lnTo>
                  <a:pt x="18186" y="133235"/>
                </a:lnTo>
                <a:lnTo>
                  <a:pt x="23647" y="145910"/>
                </a:lnTo>
                <a:lnTo>
                  <a:pt x="33083" y="155727"/>
                </a:lnTo>
                <a:lnTo>
                  <a:pt x="45516" y="161544"/>
                </a:lnTo>
                <a:lnTo>
                  <a:pt x="58597" y="161544"/>
                </a:lnTo>
                <a:lnTo>
                  <a:pt x="72123" y="156083"/>
                </a:lnTo>
                <a:lnTo>
                  <a:pt x="81838" y="146634"/>
                </a:lnTo>
                <a:lnTo>
                  <a:pt x="87020" y="134531"/>
                </a:lnTo>
                <a:close/>
              </a:path>
              <a:path w="965835" h="313690">
                <a:moveTo>
                  <a:pt x="94081" y="0"/>
                </a:moveTo>
                <a:lnTo>
                  <a:pt x="47409" y="0"/>
                </a:lnTo>
                <a:lnTo>
                  <a:pt x="52285" y="5080"/>
                </a:lnTo>
                <a:lnTo>
                  <a:pt x="63690" y="10045"/>
                </a:lnTo>
                <a:lnTo>
                  <a:pt x="76796" y="9880"/>
                </a:lnTo>
                <a:lnTo>
                  <a:pt x="89141" y="4737"/>
                </a:lnTo>
                <a:lnTo>
                  <a:pt x="94081" y="0"/>
                </a:lnTo>
                <a:close/>
              </a:path>
              <a:path w="965835" h="313690">
                <a:moveTo>
                  <a:pt x="254762" y="249250"/>
                </a:moveTo>
                <a:lnTo>
                  <a:pt x="241757" y="213360"/>
                </a:lnTo>
                <a:lnTo>
                  <a:pt x="218262" y="206032"/>
                </a:lnTo>
                <a:lnTo>
                  <a:pt x="216242" y="204012"/>
                </a:lnTo>
                <a:lnTo>
                  <a:pt x="214210" y="204012"/>
                </a:lnTo>
                <a:lnTo>
                  <a:pt x="210172" y="206032"/>
                </a:lnTo>
                <a:lnTo>
                  <a:pt x="196659" y="211848"/>
                </a:lnTo>
                <a:lnTo>
                  <a:pt x="186918" y="222237"/>
                </a:lnTo>
                <a:lnTo>
                  <a:pt x="181749" y="235610"/>
                </a:lnTo>
                <a:lnTo>
                  <a:pt x="181876" y="250520"/>
                </a:lnTo>
                <a:lnTo>
                  <a:pt x="187693" y="264045"/>
                </a:lnTo>
                <a:lnTo>
                  <a:pt x="198043" y="273773"/>
                </a:lnTo>
                <a:lnTo>
                  <a:pt x="211442" y="278955"/>
                </a:lnTo>
                <a:lnTo>
                  <a:pt x="226047" y="278955"/>
                </a:lnTo>
                <a:lnTo>
                  <a:pt x="239852" y="273011"/>
                </a:lnTo>
                <a:lnTo>
                  <a:pt x="249580" y="262648"/>
                </a:lnTo>
                <a:lnTo>
                  <a:pt x="254762" y="249250"/>
                </a:lnTo>
                <a:close/>
              </a:path>
              <a:path w="965835" h="313690">
                <a:moveTo>
                  <a:pt x="264896" y="98450"/>
                </a:moveTo>
                <a:lnTo>
                  <a:pt x="264756" y="86283"/>
                </a:lnTo>
                <a:lnTo>
                  <a:pt x="264744" y="84709"/>
                </a:lnTo>
                <a:lnTo>
                  <a:pt x="259994" y="73583"/>
                </a:lnTo>
                <a:lnTo>
                  <a:pt x="252107" y="64477"/>
                </a:lnTo>
                <a:lnTo>
                  <a:pt x="241998" y="58547"/>
                </a:lnTo>
                <a:lnTo>
                  <a:pt x="230378" y="56400"/>
                </a:lnTo>
                <a:lnTo>
                  <a:pt x="226339" y="56400"/>
                </a:lnTo>
                <a:lnTo>
                  <a:pt x="222021" y="58547"/>
                </a:lnTo>
                <a:lnTo>
                  <a:pt x="209956" y="63919"/>
                </a:lnTo>
                <a:lnTo>
                  <a:pt x="200825" y="73583"/>
                </a:lnTo>
                <a:lnTo>
                  <a:pt x="195872" y="86283"/>
                </a:lnTo>
                <a:lnTo>
                  <a:pt x="195999" y="98450"/>
                </a:lnTo>
                <a:lnTo>
                  <a:pt x="196024" y="100876"/>
                </a:lnTo>
                <a:lnTo>
                  <a:pt x="201523" y="113233"/>
                </a:lnTo>
                <a:lnTo>
                  <a:pt x="211188" y="122364"/>
                </a:lnTo>
                <a:lnTo>
                  <a:pt x="223875" y="127330"/>
                </a:lnTo>
                <a:lnTo>
                  <a:pt x="238125" y="127330"/>
                </a:lnTo>
                <a:lnTo>
                  <a:pt x="250812" y="121386"/>
                </a:lnTo>
                <a:lnTo>
                  <a:pt x="259943" y="111239"/>
                </a:lnTo>
                <a:lnTo>
                  <a:pt x="264896" y="98450"/>
                </a:lnTo>
                <a:close/>
              </a:path>
              <a:path w="965835" h="313690">
                <a:moveTo>
                  <a:pt x="437819" y="203631"/>
                </a:moveTo>
                <a:lnTo>
                  <a:pt x="412076" y="163690"/>
                </a:lnTo>
                <a:lnTo>
                  <a:pt x="400151" y="161544"/>
                </a:lnTo>
                <a:lnTo>
                  <a:pt x="390042" y="161544"/>
                </a:lnTo>
                <a:lnTo>
                  <a:pt x="376555" y="168529"/>
                </a:lnTo>
                <a:lnTo>
                  <a:pt x="367055" y="179489"/>
                </a:lnTo>
                <a:lnTo>
                  <a:pt x="362470" y="193103"/>
                </a:lnTo>
                <a:lnTo>
                  <a:pt x="363766" y="208051"/>
                </a:lnTo>
                <a:lnTo>
                  <a:pt x="370751" y="221551"/>
                </a:lnTo>
                <a:lnTo>
                  <a:pt x="381698" y="231051"/>
                </a:lnTo>
                <a:lnTo>
                  <a:pt x="395312" y="235635"/>
                </a:lnTo>
                <a:lnTo>
                  <a:pt x="410248" y="234340"/>
                </a:lnTo>
                <a:lnTo>
                  <a:pt x="423735" y="227393"/>
                </a:lnTo>
                <a:lnTo>
                  <a:pt x="433235" y="216649"/>
                </a:lnTo>
                <a:lnTo>
                  <a:pt x="437819" y="203631"/>
                </a:lnTo>
                <a:close/>
              </a:path>
              <a:path w="965835" h="313690">
                <a:moveTo>
                  <a:pt x="441883" y="52819"/>
                </a:moveTo>
                <a:lnTo>
                  <a:pt x="440563" y="38201"/>
                </a:lnTo>
                <a:lnTo>
                  <a:pt x="435762" y="27266"/>
                </a:lnTo>
                <a:lnTo>
                  <a:pt x="427926" y="18986"/>
                </a:lnTo>
                <a:lnTo>
                  <a:pt x="418185" y="13931"/>
                </a:lnTo>
                <a:lnTo>
                  <a:pt x="419023" y="13931"/>
                </a:lnTo>
                <a:lnTo>
                  <a:pt x="406209" y="11912"/>
                </a:lnTo>
                <a:lnTo>
                  <a:pt x="402170" y="13931"/>
                </a:lnTo>
                <a:lnTo>
                  <a:pt x="396100" y="13931"/>
                </a:lnTo>
                <a:lnTo>
                  <a:pt x="383781" y="19748"/>
                </a:lnTo>
                <a:lnTo>
                  <a:pt x="374878" y="30111"/>
                </a:lnTo>
                <a:lnTo>
                  <a:pt x="370522" y="43510"/>
                </a:lnTo>
                <a:lnTo>
                  <a:pt x="371856" y="58420"/>
                </a:lnTo>
                <a:lnTo>
                  <a:pt x="378510" y="70739"/>
                </a:lnTo>
                <a:lnTo>
                  <a:pt x="388772" y="79654"/>
                </a:lnTo>
                <a:lnTo>
                  <a:pt x="401688" y="84010"/>
                </a:lnTo>
                <a:lnTo>
                  <a:pt x="416306" y="82689"/>
                </a:lnTo>
                <a:lnTo>
                  <a:pt x="428625" y="76022"/>
                </a:lnTo>
                <a:lnTo>
                  <a:pt x="437527" y="65747"/>
                </a:lnTo>
                <a:lnTo>
                  <a:pt x="441883" y="52819"/>
                </a:lnTo>
                <a:close/>
              </a:path>
              <a:path w="965835" h="313690">
                <a:moveTo>
                  <a:pt x="613956" y="150202"/>
                </a:moveTo>
                <a:lnTo>
                  <a:pt x="612343" y="135255"/>
                </a:lnTo>
                <a:lnTo>
                  <a:pt x="607225" y="124320"/>
                </a:lnTo>
                <a:lnTo>
                  <a:pt x="598703" y="116052"/>
                </a:lnTo>
                <a:lnTo>
                  <a:pt x="588289" y="110998"/>
                </a:lnTo>
                <a:lnTo>
                  <a:pt x="589140" y="110998"/>
                </a:lnTo>
                <a:lnTo>
                  <a:pt x="575970" y="108966"/>
                </a:lnTo>
                <a:lnTo>
                  <a:pt x="573938" y="108966"/>
                </a:lnTo>
                <a:lnTo>
                  <a:pt x="569899" y="110998"/>
                </a:lnTo>
                <a:lnTo>
                  <a:pt x="565861" y="110998"/>
                </a:lnTo>
                <a:lnTo>
                  <a:pt x="552691" y="117970"/>
                </a:lnTo>
                <a:lnTo>
                  <a:pt x="543877" y="128943"/>
                </a:lnTo>
                <a:lnTo>
                  <a:pt x="540004" y="142557"/>
                </a:lnTo>
                <a:lnTo>
                  <a:pt x="541604" y="157505"/>
                </a:lnTo>
                <a:lnTo>
                  <a:pt x="548589" y="170675"/>
                </a:lnTo>
                <a:lnTo>
                  <a:pt x="559549" y="179489"/>
                </a:lnTo>
                <a:lnTo>
                  <a:pt x="573151" y="183375"/>
                </a:lnTo>
                <a:lnTo>
                  <a:pt x="588086" y="181762"/>
                </a:lnTo>
                <a:lnTo>
                  <a:pt x="601256" y="174790"/>
                </a:lnTo>
                <a:lnTo>
                  <a:pt x="610069" y="163817"/>
                </a:lnTo>
                <a:lnTo>
                  <a:pt x="613956" y="150202"/>
                </a:lnTo>
                <a:close/>
              </a:path>
              <a:path w="965835" h="313690">
                <a:moveTo>
                  <a:pt x="614832" y="3441"/>
                </a:moveTo>
                <a:lnTo>
                  <a:pt x="614718" y="0"/>
                </a:lnTo>
                <a:lnTo>
                  <a:pt x="544703" y="0"/>
                </a:lnTo>
                <a:lnTo>
                  <a:pt x="545655" y="9880"/>
                </a:lnTo>
                <a:lnTo>
                  <a:pt x="552602" y="21920"/>
                </a:lnTo>
                <a:lnTo>
                  <a:pt x="563333" y="30365"/>
                </a:lnTo>
                <a:lnTo>
                  <a:pt x="576351" y="34620"/>
                </a:lnTo>
                <a:lnTo>
                  <a:pt x="590118" y="34150"/>
                </a:lnTo>
                <a:lnTo>
                  <a:pt x="602145" y="27203"/>
                </a:lnTo>
                <a:lnTo>
                  <a:pt x="610577" y="16459"/>
                </a:lnTo>
                <a:lnTo>
                  <a:pt x="614832" y="3441"/>
                </a:lnTo>
                <a:close/>
              </a:path>
              <a:path w="965835" h="313690">
                <a:moveTo>
                  <a:pt x="790943" y="90703"/>
                </a:moveTo>
                <a:lnTo>
                  <a:pt x="764298" y="53009"/>
                </a:lnTo>
                <a:lnTo>
                  <a:pt x="753808" y="52349"/>
                </a:lnTo>
                <a:lnTo>
                  <a:pt x="745731" y="52349"/>
                </a:lnTo>
                <a:lnTo>
                  <a:pt x="741680" y="54368"/>
                </a:lnTo>
                <a:lnTo>
                  <a:pt x="728548" y="61645"/>
                </a:lnTo>
                <a:lnTo>
                  <a:pt x="719963" y="73075"/>
                </a:lnTo>
                <a:lnTo>
                  <a:pt x="716673" y="86791"/>
                </a:lnTo>
                <a:lnTo>
                  <a:pt x="719455" y="100876"/>
                </a:lnTo>
                <a:lnTo>
                  <a:pt x="726719" y="114020"/>
                </a:lnTo>
                <a:lnTo>
                  <a:pt x="738149" y="122618"/>
                </a:lnTo>
                <a:lnTo>
                  <a:pt x="751852" y="125907"/>
                </a:lnTo>
                <a:lnTo>
                  <a:pt x="765937" y="123126"/>
                </a:lnTo>
                <a:lnTo>
                  <a:pt x="779068" y="115862"/>
                </a:lnTo>
                <a:lnTo>
                  <a:pt x="787654" y="104419"/>
                </a:lnTo>
                <a:lnTo>
                  <a:pt x="790943" y="90703"/>
                </a:lnTo>
                <a:close/>
              </a:path>
              <a:path w="965835" h="313690">
                <a:moveTo>
                  <a:pt x="965631" y="29197"/>
                </a:moveTo>
                <a:lnTo>
                  <a:pt x="963993" y="13931"/>
                </a:lnTo>
                <a:lnTo>
                  <a:pt x="958049" y="4165"/>
                </a:lnTo>
                <a:lnTo>
                  <a:pt x="953592" y="0"/>
                </a:lnTo>
                <a:lnTo>
                  <a:pt x="902779" y="0"/>
                </a:lnTo>
                <a:lnTo>
                  <a:pt x="895273" y="10642"/>
                </a:lnTo>
                <a:lnTo>
                  <a:pt x="891616" y="24955"/>
                </a:lnTo>
                <a:lnTo>
                  <a:pt x="893254" y="40220"/>
                </a:lnTo>
                <a:lnTo>
                  <a:pt x="900544" y="53365"/>
                </a:lnTo>
                <a:lnTo>
                  <a:pt x="912202" y="61950"/>
                </a:lnTo>
                <a:lnTo>
                  <a:pt x="926503" y="65239"/>
                </a:lnTo>
                <a:lnTo>
                  <a:pt x="941755" y="62458"/>
                </a:lnTo>
                <a:lnTo>
                  <a:pt x="953757" y="55168"/>
                </a:lnTo>
                <a:lnTo>
                  <a:pt x="961961" y="43510"/>
                </a:lnTo>
                <a:lnTo>
                  <a:pt x="965631" y="29197"/>
                </a:lnTo>
                <a:close/>
              </a:path>
            </a:pathLst>
          </a:custGeom>
          <a:solidFill>
            <a:srgbClr val="2E4D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052683" y="0"/>
            <a:ext cx="2235315" cy="1203945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5747555" y="0"/>
            <a:ext cx="2540444" cy="127871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493668" y="0"/>
            <a:ext cx="2794330" cy="135422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289373" y="0"/>
            <a:ext cx="2998625" cy="1432078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091460" y="0"/>
            <a:ext cx="3196538" cy="1519260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4923720" y="0"/>
            <a:ext cx="3364278" cy="160247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5350711" y="0"/>
            <a:ext cx="2937288" cy="271780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6965669" y="0"/>
            <a:ext cx="1322328" cy="4000500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6471937" y="0"/>
            <a:ext cx="1816062" cy="434384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0" y="8990089"/>
            <a:ext cx="1977882" cy="1296910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0" y="8061798"/>
            <a:ext cx="1899787" cy="2225201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0" y="6811534"/>
            <a:ext cx="1727195" cy="3475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94809" y="754306"/>
            <a:ext cx="14560550" cy="1515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63943" y="2649171"/>
            <a:ext cx="13925550" cy="6835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002A5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6080" y="1371600"/>
            <a:ext cx="11887200" cy="3291840"/>
          </a:xfrm>
        </p:spPr>
        <p:txBody>
          <a:bodyPr wrap="square" anchor="ctr"/>
          <a:lstStyle/>
          <a:p>
            <a:pPr algn="ctr"/>
            <a:r>
              <a:rPr sz="5600" b="1"/>
              <a:t>PLAYER PERFORMANCE PREDICTION USING RIDGE AND LASSO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3429000" y="5829300"/>
            <a:ext cx="10515600" cy="3377848"/>
          </a:xfrm>
        </p:spPr>
        <p:txBody>
          <a:bodyPr wrap="square"/>
          <a:lstStyle/>
          <a:p>
            <a:pPr algn="ctr">
              <a:spcAft>
                <a:spcPts val="300"/>
              </a:spcAft>
            </a:pPr>
            <a:r>
              <a:rPr sz="2400" b="1" dirty="0">
                <a:solidFill>
                  <a:srgbClr val="2E4A8B"/>
                </a:solidFill>
                <a:latin typeface="Tahoma"/>
              </a:rPr>
              <a:t>Submitted by</a:t>
            </a:r>
          </a:p>
          <a:p>
            <a:pPr algn="ctr">
              <a:spcAft>
                <a:spcPts val="300"/>
              </a:spcAft>
            </a:pPr>
            <a:r>
              <a:rPr lang="en-US" sz="2600" b="0" dirty="0">
                <a:solidFill>
                  <a:srgbClr val="002A58"/>
                </a:solidFill>
                <a:latin typeface="Tahoma"/>
              </a:rPr>
              <a:t>J RAKSHITHA 2520090212</a:t>
            </a:r>
          </a:p>
          <a:p>
            <a:pPr algn="ctr">
              <a:spcAft>
                <a:spcPts val="300"/>
              </a:spcAft>
            </a:pPr>
            <a:r>
              <a:rPr lang="en-US" sz="2600" b="0" dirty="0">
                <a:solidFill>
                  <a:srgbClr val="002A58"/>
                </a:solidFill>
                <a:latin typeface="Tahoma"/>
              </a:rPr>
              <a:t>N CHARISHMA 2520090214</a:t>
            </a:r>
          </a:p>
          <a:p>
            <a:pPr algn="ctr">
              <a:spcAft>
                <a:spcPts val="300"/>
              </a:spcAft>
            </a:pPr>
            <a:r>
              <a:rPr lang="en-US" sz="2600" b="0" dirty="0">
                <a:solidFill>
                  <a:srgbClr val="002A58"/>
                </a:solidFill>
                <a:latin typeface="Tahoma"/>
              </a:rPr>
              <a:t>J PRAGATHI 2520090216</a:t>
            </a:r>
          </a:p>
          <a:p>
            <a:pPr algn="ctr">
              <a:spcAft>
                <a:spcPts val="300"/>
              </a:spcAft>
            </a:pPr>
            <a:endParaRPr lang="en-US" sz="2400" b="1" dirty="0">
              <a:solidFill>
                <a:srgbClr val="2E4A8B"/>
              </a:solidFill>
            </a:endParaRPr>
          </a:p>
          <a:p>
            <a:pPr algn="ctr">
              <a:spcAft>
                <a:spcPts val="300"/>
              </a:spcAft>
            </a:pPr>
            <a:r>
              <a:rPr sz="2400" b="1" dirty="0">
                <a:solidFill>
                  <a:srgbClr val="2E4A8B"/>
                </a:solidFill>
                <a:latin typeface="Tahoma"/>
              </a:rPr>
              <a:t>Under the guidance of</a:t>
            </a:r>
          </a:p>
          <a:p>
            <a:pPr algn="ctr">
              <a:spcAft>
                <a:spcPts val="300"/>
              </a:spcAft>
            </a:pPr>
            <a:r>
              <a:rPr sz="2600" b="0" dirty="0">
                <a:solidFill>
                  <a:srgbClr val="002A58"/>
                </a:solidFill>
                <a:latin typeface="Tahoma"/>
              </a:rPr>
              <a:t>Dr. </a:t>
            </a:r>
            <a:r>
              <a:rPr lang="en-US" sz="2600" b="0" dirty="0">
                <a:solidFill>
                  <a:srgbClr val="002A58"/>
                </a:solidFill>
                <a:latin typeface="Tahoma"/>
              </a:rPr>
              <a:t>HARITHA </a:t>
            </a:r>
          </a:p>
          <a:p>
            <a:pPr algn="ctr">
              <a:spcAft>
                <a:spcPts val="300"/>
              </a:spcAft>
            </a:pPr>
            <a:r>
              <a:rPr sz="2600" b="0" dirty="0">
                <a:solidFill>
                  <a:srgbClr val="002A58"/>
                </a:solidFill>
                <a:latin typeface="Tahoma"/>
              </a:rPr>
              <a:t>Department of</a:t>
            </a:r>
            <a:r>
              <a:rPr lang="en-US" sz="2600" b="0" dirty="0">
                <a:solidFill>
                  <a:srgbClr val="002A58"/>
                </a:solidFill>
                <a:latin typeface="Tahoma"/>
              </a:rPr>
              <a:t> CSIT</a:t>
            </a:r>
            <a:endParaRPr sz="2600" b="0" dirty="0">
              <a:solidFill>
                <a:srgbClr val="002A58"/>
              </a:solidFill>
              <a:latin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743200" y="2560320"/>
            <a:ext cx="5852160" cy="6583680"/>
          </a:xfrm>
        </p:spPr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01   </a:t>
            </a:r>
            <a:r>
              <a:rPr sz="2600"/>
              <a:t>Abstract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02   </a:t>
            </a:r>
            <a:r>
              <a:rPr sz="2600"/>
              <a:t>Introduction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03   </a:t>
            </a:r>
            <a:r>
              <a:rPr sz="2600"/>
              <a:t>Problem Statement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04   </a:t>
            </a:r>
            <a:r>
              <a:rPr sz="2600"/>
              <a:t>Motivation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05   </a:t>
            </a:r>
            <a:r>
              <a:rPr sz="2600"/>
              <a:t>Objectives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06   </a:t>
            </a:r>
            <a:r>
              <a:rPr sz="2600"/>
              <a:t>Literature Survey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07   </a:t>
            </a:r>
            <a:r>
              <a:rPr sz="2600"/>
              <a:t>Existing System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08   </a:t>
            </a:r>
            <a:r>
              <a:rPr sz="2600"/>
              <a:t>Proposed System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09   </a:t>
            </a:r>
            <a:r>
              <a:rPr sz="2600"/>
              <a:t>System Architecture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10   </a:t>
            </a:r>
            <a:r>
              <a:rPr sz="2600"/>
              <a:t>Methodology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8412480" y="2560320"/>
            <a:ext cx="6583680" cy="6583680"/>
          </a:xfrm>
        </p:spPr>
        <p:txBody>
          <a:bodyPr wrap="square"/>
          <a:lstStyle/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11   </a:t>
            </a:r>
            <a:r>
              <a:rPr sz="2600"/>
              <a:t>Technology Stack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12   </a:t>
            </a:r>
            <a:r>
              <a:rPr sz="2600"/>
              <a:t>System Modules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13   </a:t>
            </a:r>
            <a:r>
              <a:rPr sz="2600"/>
              <a:t>Dataset, Preprocessing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14   </a:t>
            </a:r>
            <a:r>
              <a:rPr sz="2600"/>
              <a:t>Algorithms Used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15   </a:t>
            </a:r>
            <a:r>
              <a:rPr sz="2600"/>
              <a:t>Evaluation Metrics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16   </a:t>
            </a:r>
            <a:r>
              <a:rPr sz="2600"/>
              <a:t>Implementation, Results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17   </a:t>
            </a:r>
            <a:r>
              <a:rPr sz="2600"/>
              <a:t>Advantages, Applications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18   </a:t>
            </a:r>
            <a:r>
              <a:rPr sz="2600"/>
              <a:t>Limitations, Future Scope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19   </a:t>
            </a:r>
            <a:r>
              <a:rPr sz="2600"/>
              <a:t>Conclusion</a:t>
            </a:r>
          </a:p>
          <a:p>
            <a:pPr algn="l">
              <a:spcAft>
                <a:spcPts val="1400"/>
              </a:spcAft>
            </a:pPr>
            <a:r>
              <a:rPr sz="2600" b="1">
                <a:solidFill>
                  <a:srgbClr val="D9A52B"/>
                </a:solidFill>
              </a:rPr>
              <a:t>20   </a:t>
            </a:r>
            <a:r>
              <a:rPr sz="260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Machine Learning can be used to analyze sports data and predict player performance.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Our project predicts player performance using Ridge Regression and Lasso Regression.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Historical player statistics such as matches, runs, batting average, strike rate, wickets, age and experience are used as input features.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The data is preprocessed by handling missing values, removing duplicates, encoding categorical data and scaling numerical features.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EDA is performed to understand relationships between different player attributes.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Ridge and Lasso add a penalty term to ordinary least squares, which controls model complexity and reduces overfitting.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Both models are evaluated using MAE, MSE, RMSE and R² Score and their results are compared.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The project aims to help coaches and sports analysts make data-driven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Sports analytics is increasingly using Machine Learning to analyze player data.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Every match generates a large amount of data: runs, wickets, averages, strike rates, fitness and experience.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Player performance can be predicted using historical statistics, and ML helps identify patterns that may not be easily identified manually.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Regression is a supervised learning technique that predicts a continuous value, so it suits performance prediction.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Plain linear regression overfits when features are many or correlated, so we use regularized regression.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Our project focuses on Ridge Regression (L2 penalty) and Lasso Regression (L1 penalty).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 b="1"/>
              <a:t>Project flow:</a:t>
            </a:r>
            <a:r>
              <a:rPr sz="2562"/>
              <a:t>  Data Collection → Preprocessing → EDA → Feature Engineering → Model Training → Evaluation → Comparison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562"/>
              <a:t>The final system predicts player performance and identifies important performance factors.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Existing problem: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Player performance is usually judged by manual observation, experience of selectors and simple averages.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It is difficult to forecast how a player will perform in upcoming matches.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Limitations / challenges: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Player statistics have many features and several of them are correlated (for example matches and runs).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Ordinary linear regression becomes unstable and overfits on such data, giving poor results on new data.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Not clear which statistics actually influence performance the most.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Who is affected: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Coaches, team selectors and management; sports analysts; players and fantasy-sports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Why we selected this project: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We wanted to apply machine learning to a real and interesting domain – sports.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Ridge and Lasso are important regularization techniques taught in ML and we wanted to implement and compare them practically.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Real-world need: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Teams need objective, data-based support while selecting players and planning training.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Wrong selection decisions are costly for teams.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Research / industry motivation: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Sports analytics is a fast-growing industry and many professional teams now use data and ML.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Regularized regression is a standard, interpretable baseline for prediction problems with many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1200"/>
              </a:spcAft>
              <a:buFont typeface="Arial"/>
              <a:buChar char="•"/>
            </a:pPr>
            <a:r>
              <a:rPr sz="2928" b="1"/>
              <a:t>Main objective:</a:t>
            </a:r>
            <a:r>
              <a:rPr sz="2928"/>
              <a:t>  To build a machine learning system that predicts player performance using Ridge and Lasso Regression and compares both models.</a:t>
            </a:r>
          </a:p>
          <a:p>
            <a:pPr marL="411480" indent="-365760" algn="l">
              <a:spcAft>
                <a:spcPts val="1200"/>
              </a:spcAft>
              <a:buFont typeface="Arial"/>
              <a:buChar char="•"/>
            </a:pPr>
            <a:r>
              <a:rPr sz="2928" b="1"/>
              <a:t>Specific objectives:</a:t>
            </a:r>
          </a:p>
          <a:p>
            <a:pPr marL="822960" indent="-365760" algn="l">
              <a:spcAft>
                <a:spcPts val="1200"/>
              </a:spcAft>
              <a:buFont typeface="Arial"/>
              <a:buChar char="–"/>
            </a:pPr>
            <a:r>
              <a:rPr sz="2684"/>
              <a:t>To collect and preprocess historical player statistics (missing values, duplicates, encoding, scaling).</a:t>
            </a:r>
          </a:p>
          <a:p>
            <a:pPr marL="822960" indent="-365760" algn="l">
              <a:spcAft>
                <a:spcPts val="1200"/>
              </a:spcAft>
              <a:buFont typeface="Arial"/>
              <a:buChar char="–"/>
            </a:pPr>
            <a:r>
              <a:rPr sz="2684"/>
              <a:t>To perform EDA and understand relationships between player attributes.</a:t>
            </a:r>
          </a:p>
          <a:p>
            <a:pPr marL="822960" indent="-365760" algn="l">
              <a:spcAft>
                <a:spcPts val="1200"/>
              </a:spcAft>
              <a:buFont typeface="Arial"/>
              <a:buChar char="–"/>
            </a:pPr>
            <a:r>
              <a:rPr sz="2684"/>
              <a:t>To train Ridge Regression and Lasso Regression models and tune the regularization parameter alpha.</a:t>
            </a:r>
          </a:p>
          <a:p>
            <a:pPr marL="822960" indent="-365760" algn="l">
              <a:spcAft>
                <a:spcPts val="1200"/>
              </a:spcAft>
              <a:buFont typeface="Arial"/>
              <a:buChar char="–"/>
            </a:pPr>
            <a:r>
              <a:rPr sz="2684"/>
              <a:t>To evaluate both models using MAE, MSE, RMSE and R² Score.</a:t>
            </a:r>
          </a:p>
          <a:p>
            <a:pPr marL="822960" indent="-365760" algn="l">
              <a:spcAft>
                <a:spcPts val="1200"/>
              </a:spcAft>
              <a:buFont typeface="Arial"/>
              <a:buChar char="–"/>
            </a:pPr>
            <a:r>
              <a:rPr sz="2684"/>
              <a:t>To compare the models and identify the most important performance factors.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EXISTING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928" b="1"/>
              <a:t>Current approach: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Performance is judged by manual scouting, match observation and simple statistical averages.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Some systems use ordinary (multiple) linear regression on player data.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928" b="1"/>
              <a:t>Existing technologies: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Spreadsheets, basic statistical tools and standard linear regression.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928" b="1"/>
              <a:t>Limitations: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Subjective and depends on individual opinion.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Linear regression overfits when features are many or correlated.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No automatic way to remove less useful features.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Poor generalization on unseen player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PROPOSED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/>
              <a:t>We propose a machine-learning based system that predicts player performance using Ridge and Lasso Regression.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Ridge Regression</a:t>
            </a:r>
            <a:r>
              <a:rPr sz="2562"/>
              <a:t>  adds an L2 penalty that shrinks coefficients and handles correlated features.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Lasso Regression</a:t>
            </a:r>
            <a:r>
              <a:rPr sz="2562"/>
              <a:t>  adds an L1 penalty that can shrink some coefficients exactly to zero, so it also performs feature selection.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 b="1"/>
              <a:t>How it addresses the limitations: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Regularization reduces overfitting and improves generalization.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Correlated features no longer make the model unstable.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Lasso highlights the most important features automatically.</a:t>
            </a:r>
          </a:p>
          <a:p>
            <a:pPr marL="822960" indent="-365760" algn="l">
              <a:spcAft>
                <a:spcPts val="719"/>
              </a:spcAft>
              <a:buFont typeface="Arial"/>
              <a:buChar char="–"/>
            </a:pPr>
            <a:r>
              <a:rPr sz="2318"/>
              <a:t>Objective, data-driven predictions replace manual judgement.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562"/>
              <a:t>Both models are compared using MAE, MSE, RMSE and R² to select the better 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743200"/>
            <a:ext cx="2468880" cy="77724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70" b="1">
                <a:solidFill>
                  <a:srgbClr val="FFFFFF"/>
                </a:solidFill>
                <a:latin typeface="Tahoma"/>
              </a:rPr>
              <a:t>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520440"/>
            <a:ext cx="2468880" cy="329184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Player statistics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(Kaggle dataset)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Matches, runs,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average, strike rate,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wickets, age,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experience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001768" y="4846320"/>
            <a:ext cx="548640" cy="457200"/>
          </a:xfrm>
          <a:prstGeom prst="righ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577840" y="2743200"/>
            <a:ext cx="2468880" cy="77724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70" b="1">
                <a:solidFill>
                  <a:srgbClr val="FFFFFF"/>
                </a:solidFill>
                <a:latin typeface="Tahoma"/>
              </a:rPr>
              <a:t>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3520440"/>
            <a:ext cx="2468880" cy="329184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Missing values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Duplicates removal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Encoding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Scaling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EDA / 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65008" y="4846320"/>
            <a:ext cx="548640" cy="457200"/>
          </a:xfrm>
          <a:prstGeom prst="righ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41080" y="2743200"/>
            <a:ext cx="2468880" cy="77724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70" b="1">
                <a:solidFill>
                  <a:srgbClr val="FFFFFF"/>
                </a:solidFill>
                <a:latin typeface="Tahoma"/>
              </a:rPr>
              <a:t>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3520440"/>
            <a:ext cx="2468880" cy="329184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Train-test split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Ridge Regression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Lasso Regression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Tune alpha (CV)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1128247" y="4846320"/>
            <a:ext cx="548640" cy="457200"/>
          </a:xfrm>
          <a:prstGeom prst="righ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04320" y="2743200"/>
            <a:ext cx="2468880" cy="77724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070" b="1">
                <a:solidFill>
                  <a:srgbClr val="FFFFFF"/>
                </a:solidFill>
                <a:latin typeface="Tahoma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3520440"/>
            <a:ext cx="2468880" cy="329184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Predicted player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performance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Important features</a:t>
            </a:r>
          </a:p>
          <a:p>
            <a:pPr algn="ctr">
              <a:spcAft>
                <a:spcPts val="400"/>
              </a:spcAft>
            </a:pPr>
            <a:r>
              <a:rPr sz="1900">
                <a:solidFill>
                  <a:srgbClr val="002A58"/>
                </a:solidFill>
                <a:latin typeface="Tahoma"/>
              </a:rPr>
              <a:t>MAE, MSE, RMSE,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7223760"/>
            <a:ext cx="120700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54">
                <a:solidFill>
                  <a:srgbClr val="002A58"/>
                </a:solidFill>
                <a:latin typeface="Tahoma"/>
              </a:rPr>
              <a:t>Input: historical player statistics.   Processing: cleaning, encoding, scaling, EDA.</a:t>
            </a:r>
          </a:p>
          <a:p>
            <a:pPr>
              <a:spcAft>
                <a:spcPts val="600"/>
              </a:spcAft>
            </a:pPr>
            <a:r>
              <a:rPr sz="1954">
                <a:solidFill>
                  <a:srgbClr val="002A58"/>
                </a:solidFill>
                <a:latin typeface="Tahoma"/>
              </a:rPr>
              <a:t>Algorithms: Ridge and Lasso Regression.   Output: predicted performance and model comparison.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000" b="1"/>
              <a:t>METHODOLOGY /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743200"/>
            <a:ext cx="2468880" cy="173736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1. Data Collection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Kaggle player performance dataset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001768" y="3383280"/>
            <a:ext cx="548640" cy="457200"/>
          </a:xfrm>
          <a:prstGeom prst="righ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577840" y="2743200"/>
            <a:ext cx="2468880" cy="173736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2. Preprocessing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Missing values, duplicates, encoding, scaling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065008" y="3383280"/>
            <a:ext cx="548640" cy="457200"/>
          </a:xfrm>
          <a:prstGeom prst="righ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41080" y="2743200"/>
            <a:ext cx="2468880" cy="173736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3. EDA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Correlation, distributions, outliers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1128247" y="3383280"/>
            <a:ext cx="548640" cy="457200"/>
          </a:xfrm>
          <a:prstGeom prst="righ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04320" y="2743200"/>
            <a:ext cx="2468880" cy="173736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4. Feature Engineering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Select / create useful features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2664440" y="4526280"/>
            <a:ext cx="548640" cy="457200"/>
          </a:xfrm>
          <a:prstGeom prst="down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04320" y="5074920"/>
            <a:ext cx="2468880" cy="173736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5. Train-Test Split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Training and testing sets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11137392" y="5715000"/>
            <a:ext cx="548640" cy="457200"/>
          </a:xfrm>
          <a:prstGeom prst="lef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41080" y="5074920"/>
            <a:ext cx="2468880" cy="173736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6. Model Training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Ridge and Lasso, tune alpha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8074152" y="5715000"/>
            <a:ext cx="548640" cy="457200"/>
          </a:xfrm>
          <a:prstGeom prst="lef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5074920"/>
            <a:ext cx="2468880" cy="173736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7. Evaluation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MAE, MSE, RMSE, R²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5010912" y="5715000"/>
            <a:ext cx="548640" cy="457200"/>
          </a:xfrm>
          <a:prstGeom prst="leftArrow">
            <a:avLst/>
          </a:prstGeom>
          <a:solidFill>
            <a:srgbClr val="D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14600" y="5074920"/>
            <a:ext cx="2468880" cy="173736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8. Comparison</a:t>
            </a:r>
          </a:p>
          <a:p>
            <a:pPr algn="ctr"/>
            <a:r>
              <a:rPr sz="1839">
                <a:solidFill>
                  <a:srgbClr val="FFFFFF"/>
                </a:solidFill>
                <a:latin typeface="Tahoma"/>
              </a:rPr>
              <a:t>Best model and 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7223760"/>
            <a:ext cx="120700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70">
                <a:solidFill>
                  <a:srgbClr val="002A58"/>
                </a:solidFill>
                <a:latin typeface="Tahoma"/>
              </a:rPr>
              <a:t>Steps 1–4 prepare the data; steps 5–8 build, evaluate and compare the models.</a:t>
            </a:r>
          </a:p>
          <a:p>
            <a:pPr>
              <a:spcAft>
                <a:spcPts val="600"/>
              </a:spcAft>
            </a:pPr>
            <a:r>
              <a:rPr sz="2070">
                <a:solidFill>
                  <a:srgbClr val="002A58"/>
                </a:solidFill>
                <a:latin typeface="Tahoma"/>
              </a:rPr>
              <a:t>Alpha is chosen using cross-validation so that the model neither underfits nor overfits.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14600" y="2423160"/>
          <a:ext cx="11887200" cy="5998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r>
                        <a:rPr sz="2352" b="1">
                          <a:solidFill>
                            <a:srgbClr val="FFFFFF"/>
                          </a:solidFill>
                          <a:latin typeface="Tahoma"/>
                        </a:rPr>
                        <a:t>Requirement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52" b="1">
                          <a:solidFill>
                            <a:srgbClr val="FFFFFF"/>
                          </a:solidFill>
                          <a:latin typeface="Tahoma"/>
                        </a:rPr>
                        <a:t>Details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Operating System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Windows 10 / 11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Programming Language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Python 3.x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IDE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Jupyter Notebook / Google Colab / VS Code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Libraries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Pandas, NumPy, Matplotlib, Seaborn, Scikit-learn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ML Framework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Scikit-learn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Dataset Source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Kaggle Player Performance Dataset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Hardware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0">
                          <a:solidFill>
                            <a:srgbClr val="002A58"/>
                          </a:solidFill>
                          <a:latin typeface="Tahoma"/>
                        </a:rPr>
                        <a:t>Intel i3 or above, 4 GB RAM or more (cloud: Google Colab)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4600" y="85496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25">
                <a:solidFill>
                  <a:srgbClr val="002A58"/>
                </a:solidFill>
                <a:latin typeface="Tahoma"/>
              </a:rPr>
              <a:t>Pandas, NumPy: data   |   Matplotlib, Seaborn: plots   |   Scikit-learn: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SYSTEM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743200"/>
            <a:ext cx="2788920" cy="278892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Data Collection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Load player statistics CSV from Kaggle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32120" y="2743200"/>
            <a:ext cx="2788920" cy="278892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Data Preprocessing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Handle missing values, duplicates, encoding, 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549640" y="2743200"/>
            <a:ext cx="2788920" cy="278892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EDA &amp; Feature Engineering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Correlation, plots, feature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67159" y="2743200"/>
            <a:ext cx="2788920" cy="278892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Ridge Module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Train Ridge model, tune alpha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5806440"/>
            <a:ext cx="2788920" cy="278892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Lasso Module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Train Lasso model, tune alpha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5806440"/>
            <a:ext cx="2788920" cy="278892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Evaluation Module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MAE, MSE, RMSE, R² for both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5806440"/>
            <a:ext cx="2788920" cy="2788920"/>
          </a:xfrm>
          <a:prstGeom prst="rect">
            <a:avLst/>
          </a:prstGeom>
          <a:solidFill>
            <a:srgbClr val="2E4A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Prediction Module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Predict performance for new player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567159" y="5806440"/>
            <a:ext cx="2788920" cy="2788920"/>
          </a:xfrm>
          <a:prstGeom prst="rect">
            <a:avLst/>
          </a:prstGeom>
          <a:solidFill>
            <a:srgbClr val="002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FFFFFF"/>
                </a:solidFill>
                <a:latin typeface="Tahoma"/>
              </a:rPr>
              <a:t>Visualization / Reporting</a:t>
            </a:r>
          </a:p>
          <a:p>
            <a:pPr algn="ctr"/>
            <a:r>
              <a:rPr sz="1954">
                <a:solidFill>
                  <a:srgbClr val="FFFFFF"/>
                </a:solidFill>
                <a:latin typeface="Tahoma"/>
              </a:rPr>
              <a:t>Graphs, coefficient plots, comparison 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DATASET / INPUT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331720"/>
            <a:ext cx="11887200" cy="10601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11480" indent="-365760" algn="l">
              <a:spcAft>
                <a:spcPts val="359"/>
              </a:spcAft>
              <a:buFont typeface="Arial"/>
              <a:buChar char="•"/>
            </a:pPr>
            <a:r>
              <a:rPr sz="2074" b="1" dirty="0">
                <a:solidFill>
                  <a:srgbClr val="002A58"/>
                </a:solidFill>
                <a:latin typeface="Tahoma"/>
              </a:rPr>
              <a:t>Dataset name:</a:t>
            </a:r>
            <a:r>
              <a:rPr sz="2074" dirty="0">
                <a:solidFill>
                  <a:srgbClr val="002A58"/>
                </a:solidFill>
                <a:latin typeface="Tahoma"/>
              </a:rPr>
              <a:t>  Kaggle Player Performance Dataset</a:t>
            </a:r>
          </a:p>
          <a:p>
            <a:pPr marL="411480" indent="-365760" algn="l">
              <a:spcAft>
                <a:spcPts val="359"/>
              </a:spcAft>
              <a:buFont typeface="Arial"/>
              <a:buChar char="•"/>
            </a:pPr>
            <a:r>
              <a:rPr sz="2074" b="1" dirty="0">
                <a:solidFill>
                  <a:srgbClr val="002A58"/>
                </a:solidFill>
                <a:latin typeface="Tahoma"/>
              </a:rPr>
              <a:t>Number of records:</a:t>
            </a:r>
            <a:r>
              <a:rPr sz="2074" dirty="0">
                <a:solidFill>
                  <a:srgbClr val="002A58"/>
                </a:solidFill>
                <a:latin typeface="Tahoma"/>
              </a:rPr>
              <a:t> </a:t>
            </a:r>
            <a:r>
              <a:rPr lang="en-US" sz="2074" dirty="0">
                <a:solidFill>
                  <a:srgbClr val="002A58"/>
                </a:solidFill>
                <a:latin typeface="Tahoma"/>
              </a:rPr>
              <a:t>20</a:t>
            </a:r>
            <a:endParaRPr sz="2074" dirty="0">
              <a:solidFill>
                <a:srgbClr val="002A58"/>
              </a:solidFill>
              <a:latin typeface="Tahoma"/>
            </a:endParaRPr>
          </a:p>
          <a:p>
            <a:pPr marL="411480" indent="-365760" algn="l">
              <a:spcAft>
                <a:spcPts val="359"/>
              </a:spcAft>
              <a:buFont typeface="Arial"/>
              <a:buChar char="•"/>
            </a:pPr>
            <a:r>
              <a:rPr sz="2074" b="1" dirty="0">
                <a:solidFill>
                  <a:srgbClr val="002A58"/>
                </a:solidFill>
                <a:latin typeface="Tahoma"/>
              </a:rPr>
              <a:t>Target:</a:t>
            </a:r>
            <a:r>
              <a:rPr sz="2074" dirty="0">
                <a:solidFill>
                  <a:srgbClr val="002A58"/>
                </a:solidFill>
                <a:latin typeface="Tahoma"/>
              </a:rPr>
              <a:t>  player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4600" y="3977639"/>
          <a:ext cx="11887200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FFFFFF"/>
                          </a:solidFill>
                          <a:latin typeface="Tahoma"/>
                        </a:rPr>
                        <a:t>Feature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FFFFFF"/>
                          </a:solidFill>
                          <a:latin typeface="Tahoma"/>
                        </a:rPr>
                        <a:t>Description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Matches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Number of matches played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Runs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Total runs scored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Batting average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Average runs per dismissal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Strike rate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Runs scored per 100 balls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Wickets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Total wickets taken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Age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Age of the player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2016" b="1">
                          <a:solidFill>
                            <a:srgbClr val="002A58"/>
                          </a:solidFill>
                          <a:latin typeface="Tahoma"/>
                        </a:rPr>
                        <a:t>Experience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16" b="0">
                          <a:solidFill>
                            <a:srgbClr val="002A58"/>
                          </a:solidFill>
                          <a:latin typeface="Tahoma"/>
                        </a:rPr>
                        <a:t>Years of playing experience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DATA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562" b="1"/>
              <a:t>Handling missing values:</a:t>
            </a:r>
            <a:r>
              <a:rPr sz="2562"/>
              <a:t>  filled using mean / median for numeric columns (or rows removed if very few).</a:t>
            </a:r>
          </a:p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562" b="1"/>
              <a:t>Removing duplicates:</a:t>
            </a:r>
            <a:r>
              <a:rPr sz="2562"/>
              <a:t>  repeated player records are dropped so they do not bias training.</a:t>
            </a:r>
          </a:p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562" b="1"/>
              <a:t>Encoding categorical data:</a:t>
            </a:r>
            <a:r>
              <a:rPr sz="2562"/>
              <a:t>  columns such as role or team are converted to numbers (label / one-hot encoding).</a:t>
            </a:r>
          </a:p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562" b="1"/>
              <a:t>Scaling numerical features:</a:t>
            </a:r>
            <a:r>
              <a:rPr sz="2562"/>
              <a:t>  StandardScaler brings all features to the same scale. This is important because the Ridge and Lasso penalties depend on coefficient size.</a:t>
            </a:r>
          </a:p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562" b="1"/>
              <a:t>Train-test split:</a:t>
            </a:r>
            <a:r>
              <a:rPr sz="2562"/>
              <a:t>  data is divided into training and testing sets (for example 80 : 20).</a:t>
            </a:r>
          </a:p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562" b="1"/>
              <a:t>Outliers:</a:t>
            </a:r>
            <a:r>
              <a:rPr sz="2562"/>
              <a:t>  extreme values are checked during EDA and treated if they are errors.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000" b="1"/>
              <a:t>EXPLORATORY DATA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200" y="3171486"/>
            <a:ext cx="10744200" cy="3944028"/>
          </a:xfrm>
        </p:spPr>
        <p:txBody>
          <a:bodyPr wrap="square"/>
          <a:lstStyle/>
          <a:p>
            <a:pPr marL="411480" indent="-365760" algn="l">
              <a:lnSpc>
                <a:spcPct val="150000"/>
              </a:lnSpc>
              <a:spcAft>
                <a:spcPts val="960"/>
              </a:spcAft>
              <a:buFont typeface="Arial"/>
              <a:buChar char="•"/>
            </a:pPr>
            <a:r>
              <a:rPr sz="2440" dirty="0"/>
              <a:t>Summary statistics (mean, min, max, std) of every feature.</a:t>
            </a:r>
          </a:p>
          <a:p>
            <a:pPr marL="411480" indent="-365760" algn="l">
              <a:lnSpc>
                <a:spcPct val="150000"/>
              </a:lnSpc>
              <a:spcAft>
                <a:spcPts val="960"/>
              </a:spcAft>
              <a:buFont typeface="Arial"/>
              <a:buChar char="•"/>
            </a:pPr>
            <a:r>
              <a:rPr sz="2440" dirty="0"/>
              <a:t>Histograms to check distribution of runs, average, strike rate.</a:t>
            </a:r>
          </a:p>
          <a:p>
            <a:pPr marL="411480" indent="-365760" algn="l">
              <a:lnSpc>
                <a:spcPct val="150000"/>
              </a:lnSpc>
              <a:spcAft>
                <a:spcPts val="960"/>
              </a:spcAft>
              <a:buFont typeface="Arial"/>
              <a:buChar char="•"/>
            </a:pPr>
            <a:r>
              <a:rPr sz="2440" dirty="0"/>
              <a:t>Correlation heatmap to find strongly related features.</a:t>
            </a:r>
          </a:p>
          <a:p>
            <a:pPr marL="411480" indent="-365760" algn="l">
              <a:lnSpc>
                <a:spcPct val="150000"/>
              </a:lnSpc>
              <a:spcAft>
                <a:spcPts val="960"/>
              </a:spcAft>
              <a:buFont typeface="Arial"/>
              <a:buChar char="•"/>
            </a:pPr>
            <a:r>
              <a:rPr sz="2440" dirty="0"/>
              <a:t>Scatter plots of features against the target.</a:t>
            </a:r>
          </a:p>
          <a:p>
            <a:pPr marL="411480" indent="-365760" algn="l">
              <a:lnSpc>
                <a:spcPct val="150000"/>
              </a:lnSpc>
              <a:spcAft>
                <a:spcPts val="960"/>
              </a:spcAft>
              <a:buFont typeface="Arial"/>
              <a:buChar char="•"/>
            </a:pPr>
            <a:r>
              <a:rPr sz="2440" dirty="0"/>
              <a:t>Box plots to detect outliers.</a:t>
            </a:r>
          </a:p>
          <a:p>
            <a:pPr marL="411480" indent="-365760" algn="l">
              <a:lnSpc>
                <a:spcPct val="150000"/>
              </a:lnSpc>
              <a:spcAft>
                <a:spcPts val="960"/>
              </a:spcAft>
              <a:buFont typeface="Arial"/>
              <a:buChar char="•"/>
            </a:pPr>
            <a:r>
              <a:rPr sz="2440" dirty="0"/>
              <a:t>Findings guide feature selection and show why regularization is needed.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000" b="1"/>
              <a:t>RIDGE REGRESSION (L2)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1737360"/>
          </a:xfrm>
        </p:spPr>
        <p:txBody>
          <a:bodyPr wrap="square"/>
          <a:lstStyle/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684"/>
              <a:t>Ridge adds the sum of squared coefficients as a penalty to the least-squares loss.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684" b="1"/>
              <a:t>Cost function: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4069080"/>
            <a:ext cx="10058400" cy="91440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529" b="1">
                <a:solidFill>
                  <a:srgbClr val="002A58"/>
                </a:solidFill>
                <a:latin typeface="Tahoma"/>
              </a:rPr>
              <a:t>Minimize   Σ ( yᵢ − ŷᵢ )²  +  α Σ βⱼ²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5349240"/>
            <a:ext cx="11887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>
                <a:solidFill>
                  <a:srgbClr val="002A58"/>
                </a:solidFill>
                <a:latin typeface="Tahoma"/>
              </a:rPr>
              <a:t>Shrinks all coefficients towards zero but never exactly to zero.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>
                <a:solidFill>
                  <a:srgbClr val="002A58"/>
                </a:solidFill>
                <a:latin typeface="Tahoma"/>
              </a:rPr>
              <a:t>Works well when features are correlated (multicollinearity).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>
                <a:solidFill>
                  <a:srgbClr val="002A58"/>
                </a:solidFill>
                <a:latin typeface="Tahoma"/>
              </a:rPr>
              <a:t>Larger alpha → more shrinkage, lower variance, higher bias.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 b="1">
                <a:solidFill>
                  <a:srgbClr val="002A58"/>
                </a:solidFill>
                <a:latin typeface="Tahoma"/>
              </a:rPr>
              <a:t>Why selected:</a:t>
            </a:r>
            <a:r>
              <a:rPr sz="2684">
                <a:solidFill>
                  <a:srgbClr val="002A58"/>
                </a:solidFill>
                <a:latin typeface="Tahoma"/>
              </a:rPr>
              <a:t>  stable, reduces overfitting and keeps all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000" b="1"/>
              <a:t>LASSO REGRESSION (L1)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1737360"/>
          </a:xfrm>
        </p:spPr>
        <p:txBody>
          <a:bodyPr wrap="square"/>
          <a:lstStyle/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684"/>
              <a:t>Lasso adds the sum of absolute values of coefficients as a penalty.</a:t>
            </a:r>
          </a:p>
          <a:p>
            <a:pPr marL="411480" indent="-365760" algn="l">
              <a:spcAft>
                <a:spcPts val="719"/>
              </a:spcAft>
              <a:buFont typeface="Arial"/>
              <a:buChar char="•"/>
            </a:pPr>
            <a:r>
              <a:rPr sz="2684" b="1"/>
              <a:t>Cost function: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360" y="4069080"/>
            <a:ext cx="10058400" cy="91440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529" b="1">
                <a:solidFill>
                  <a:srgbClr val="002A58"/>
                </a:solidFill>
                <a:latin typeface="Tahoma"/>
              </a:rPr>
              <a:t>Minimize   Σ ( yᵢ − ŷᵢ )²  +  α Σ | βⱼ 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5349240"/>
            <a:ext cx="11887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>
                <a:solidFill>
                  <a:srgbClr val="002A58"/>
                </a:solidFill>
                <a:latin typeface="Tahoma"/>
              </a:rPr>
              <a:t>Can shrink some coefficients exactly to zero, so it removes unimportant features (feature selection).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>
                <a:solidFill>
                  <a:srgbClr val="002A58"/>
                </a:solidFill>
                <a:latin typeface="Tahoma"/>
              </a:rPr>
              <a:t>Gives a simpler, easier to interpret model; larger alpha → more zero coefficients.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684" b="1">
                <a:solidFill>
                  <a:srgbClr val="002A58"/>
                </a:solidFill>
                <a:latin typeface="Tahoma"/>
              </a:rPr>
              <a:t>Why selected:</a:t>
            </a:r>
            <a:r>
              <a:rPr sz="2684">
                <a:solidFill>
                  <a:srgbClr val="002A58"/>
                </a:solidFill>
                <a:latin typeface="Tahoma"/>
              </a:rPr>
              <a:t>  reduces overfitting and shows which player statistics matter most.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RIDGE vs LASSO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514600" y="2423160"/>
          <a:ext cx="11887200" cy="62727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Aspect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Ridge Regression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Lasso Regression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002A58"/>
                          </a:solidFill>
                          <a:latin typeface="Tahoma"/>
                        </a:rPr>
                        <a:t>Penalty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L2 – sum of squared coefficients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L1 – sum of absolute coefficients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002A58"/>
                          </a:solidFill>
                          <a:latin typeface="Tahoma"/>
                        </a:rPr>
                        <a:t>Coefficients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Shrink towards zero, never zero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Some become exactly zero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002A58"/>
                          </a:solidFill>
                          <a:latin typeface="Tahoma"/>
                        </a:rPr>
                        <a:t>Feature selection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No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Yes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002A58"/>
                          </a:solidFill>
                          <a:latin typeface="Tahoma"/>
                        </a:rPr>
                        <a:t>Correlated features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Handles well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Picks one, may drop others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002A58"/>
                          </a:solidFill>
                          <a:latin typeface="Tahoma"/>
                        </a:rPr>
                        <a:t>Best when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Many useful features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Few important features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r>
                        <a:rPr sz="2128" b="1">
                          <a:solidFill>
                            <a:srgbClr val="002A58"/>
                          </a:solidFill>
                          <a:latin typeface="Tahoma"/>
                        </a:rPr>
                        <a:t>Model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Uses all features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28" b="0">
                          <a:solidFill>
                            <a:srgbClr val="002A58"/>
                          </a:solidFill>
                          <a:latin typeface="Tahoma"/>
                        </a:rPr>
                        <a:t>Sparse, simpler model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4600" y="8869680"/>
            <a:ext cx="11887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2070">
                <a:solidFill>
                  <a:srgbClr val="002A58"/>
                </a:solidFill>
                <a:latin typeface="Tahoma"/>
              </a:rPr>
              <a:t>Both reduce overfitting; alpha = 0 gives ordinary linear regression.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560320"/>
            <a:ext cx="5760720" cy="301752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002A58"/>
                </a:solidFill>
                <a:latin typeface="Tahoma"/>
              </a:rPr>
              <a:t>MAE – Mean Absolute Error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(1/n) Σ | yᵢ − ŷᵢ |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Average size of the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9640" y="2560320"/>
            <a:ext cx="5760720" cy="301752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002A58"/>
                </a:solidFill>
                <a:latin typeface="Tahoma"/>
              </a:rPr>
              <a:t>MSE – Mean Squared Error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(1/n) Σ ( yᵢ − ŷᵢ )²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Penalizes large errors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5852160"/>
            <a:ext cx="5760720" cy="301752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002A58"/>
                </a:solidFill>
                <a:latin typeface="Tahoma"/>
              </a:rPr>
              <a:t>RMSE – Root Mean Squared Error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√ MSE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Error in the same unit as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8549640" y="5852160"/>
            <a:ext cx="5760720" cy="3017520"/>
          </a:xfrm>
          <a:prstGeom prst="rect">
            <a:avLst/>
          </a:prstGeom>
          <a:solidFill>
            <a:srgbClr val="E9EEF7"/>
          </a:solidFill>
          <a:ln w="19050">
            <a:solidFill>
              <a:srgbClr val="2E4A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2185" b="1">
                <a:solidFill>
                  <a:srgbClr val="002A58"/>
                </a:solidFill>
                <a:latin typeface="Tahoma"/>
              </a:rPr>
              <a:t>R² Score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1 − Σ(yᵢ − ŷᵢ)² / Σ(yᵢ − ȳ)²</a:t>
            </a:r>
          </a:p>
          <a:p>
            <a:pPr algn="ctr"/>
            <a:r>
              <a:rPr sz="2185">
                <a:solidFill>
                  <a:srgbClr val="002A58"/>
                </a:solidFill>
                <a:latin typeface="Tahoma"/>
              </a:rPr>
              <a:t>Fraction of variance explained (closer to 1 is better)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9144000"/>
            <a:ext cx="11887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954">
                <a:solidFill>
                  <a:srgbClr val="002A58"/>
                </a:solidFill>
                <a:latin typeface="Tahoma"/>
              </a:rPr>
              <a:t>Lower MAE, MSE, RMSE and higher R² means a better model.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IMPLEMENTATION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5394960" cy="6766560"/>
          </a:xfrm>
        </p:spPr>
        <p:txBody>
          <a:bodyPr wrap="square"/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Import libraries and load the dataset.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Clean data and encode categorical columns.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Scale features with StandardScaler.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Split data into training and testing sets.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Train Ridge and Lasso models with tuned alpha.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Predict on test data and calculate metrics.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440"/>
              <a:t>Plot results and compare models.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138160" y="2560320"/>
            <a:ext cx="6675120" cy="6309360"/>
          </a:xfrm>
          <a:prstGeom prst="rect">
            <a:avLst/>
          </a:prstGeom>
          <a:solidFill>
            <a:srgbClr val="10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t"/>
          <a:lstStyle/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from sklearn.linear_model import Ridge, Lasso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from sklearn.model_selection import train_test_split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from sklearn.preprocessing import StandardScaler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from sklearn.metrics import mean_absolute_error, mean_squared_error, r2_score</a:t>
            </a:r>
          </a:p>
          <a:p>
            <a:pPr algn="l"/>
            <a:endParaRPr sz="1500">
              <a:solidFill>
                <a:srgbClr val="DDE6F5"/>
              </a:solidFill>
              <a:latin typeface="Courier New"/>
            </a:endParaRP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X_train, X_test, y_train, y_test = train_test_split(X, y, test_size=0.2, random_state=42)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scaler = StandardScaler()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X_train = scaler.fit_transform(X_train)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X_test = scaler.transform(X_test)</a:t>
            </a:r>
          </a:p>
          <a:p>
            <a:pPr algn="l"/>
            <a:endParaRPr sz="1500">
              <a:solidFill>
                <a:srgbClr val="DDE6F5"/>
              </a:solidFill>
              <a:latin typeface="Courier New"/>
            </a:endParaRPr>
          </a:p>
          <a:p>
            <a:pPr algn="l"/>
            <a:r>
              <a:rPr sz="1500">
                <a:solidFill>
                  <a:srgbClr val="D9A52B"/>
                </a:solidFill>
                <a:latin typeface="Courier New"/>
              </a:rPr>
              <a:t>ridge = Ridge(alpha=1.0).fit(X_train, y_train)</a:t>
            </a:r>
          </a:p>
          <a:p>
            <a:pPr algn="l"/>
            <a:r>
              <a:rPr sz="1500">
                <a:solidFill>
                  <a:srgbClr val="D9A52B"/>
                </a:solidFill>
                <a:latin typeface="Courier New"/>
              </a:rPr>
              <a:t>lasso = Lasso(alpha=0.1).fit(X_train, y_train)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pred = ridge.predict(X_test)</a:t>
            </a:r>
          </a:p>
          <a:p>
            <a:pPr algn="l"/>
            <a:r>
              <a:rPr sz="1500">
                <a:solidFill>
                  <a:srgbClr val="DDE6F5"/>
                </a:solidFill>
                <a:latin typeface="Courier New"/>
              </a:rPr>
              <a:t>print(r2_score(y_test, pred))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015862"/>
              </p:ext>
            </p:extLst>
          </p:nvPr>
        </p:nvGraphicFramePr>
        <p:xfrm>
          <a:off x="2514600" y="2468880"/>
          <a:ext cx="1188720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Metric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Linear Regression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Ridge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FFFFFF"/>
                          </a:solidFill>
                          <a:latin typeface="Tahoma"/>
                        </a:rPr>
                        <a:t>Lasso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002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MAE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0.056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0.270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MSE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0.005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0.130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RMSE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0.073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0.360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2240" b="1">
                          <a:solidFill>
                            <a:srgbClr val="002A58"/>
                          </a:solidFill>
                          <a:latin typeface="Tahoma"/>
                        </a:rPr>
                        <a:t>R² Score</a:t>
                      </a:r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1.000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0.997</a:t>
                      </a:r>
                      <a:endParaRPr dirty="0"/>
                    </a:p>
                  </a:txBody>
                  <a:tcPr marT="36576" marB="36576" anchor="ctr">
                    <a:lnL w="9525">
                      <a:solidFill>
                        <a:srgbClr val="8FA0BF"/>
                      </a:solidFill>
                    </a:lnL>
                    <a:lnR w="9525">
                      <a:solidFill>
                        <a:srgbClr val="8FA0BF"/>
                      </a:solidFill>
                    </a:lnR>
                    <a:lnT w="9525">
                      <a:solidFill>
                        <a:srgbClr val="8FA0BF"/>
                      </a:solidFill>
                    </a:lnT>
                    <a:lnB w="9525">
                      <a:solidFill>
                        <a:srgbClr val="8FA0BF"/>
                      </a:solidFill>
                    </a:lnB>
                    <a:solidFill>
                      <a:srgbClr val="E9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4600" y="6858000"/>
            <a:ext cx="11887200" cy="3567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318" dirty="0">
                <a:solidFill>
                  <a:srgbClr val="002A58"/>
                </a:solidFill>
                <a:latin typeface="Tahoma"/>
              </a:rPr>
              <a:t>Lower MAE, MSE, RMSE and higher R² indicates the better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SCREENSHOTS /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2514600" y="2468880"/>
            <a:ext cx="576072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A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6B7280"/>
                </a:solidFill>
                <a:latin typeface="Tahoma"/>
              </a:rPr>
              <a:t>Insert screenshot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41080" y="2468880"/>
            <a:ext cx="576072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A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6B7280"/>
                </a:solidFill>
                <a:latin typeface="Tahoma"/>
              </a:rPr>
              <a:t>Insert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6035040"/>
            <a:ext cx="576072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A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6B7280"/>
                </a:solidFill>
                <a:latin typeface="Tahoma"/>
              </a:rPr>
              <a:t>Insert screenshot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6035040"/>
            <a:ext cx="576072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4A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>
                <a:solidFill>
                  <a:srgbClr val="6B7280"/>
                </a:solidFill>
                <a:latin typeface="Tahoma"/>
              </a:rPr>
              <a:t>Insert screenshot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F04A6F-F3FB-0BF3-92D4-DD6DBB4AE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423161"/>
            <a:ext cx="57607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F22FF6-2CA3-5A8E-C637-DEEAFCD85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119" y="2468880"/>
            <a:ext cx="5760720" cy="31436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E486E5-738F-3B29-7B18-F9A0A61A8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599" y="5989318"/>
            <a:ext cx="5760721" cy="32004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1335A20-3907-6C92-A4DD-E654A89A8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370" y="6023979"/>
            <a:ext cx="579415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ADVANTAGES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Reduces overfitting through regularization, so predictions on new data are more reliable.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Ridge handles correlated features (multicollinearity) well.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Lasso performs automatic feature selection and gives a simpler model.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Improvement over plain linear regression, which is unstable on many correlated features.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Fast to train and easy to interpret (coefficients show feature impact).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Objective, data-driven decisions instead of manual judgement.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928"/>
              <a:t>Built with free, open-source tools (Python, Scikit-learn).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APPLICATIONS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928" b="1"/>
              <a:t>Real-world applications: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Player selection and team building.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Predicting future match performance.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Planning training and workload.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Player valuation, auctions and contracts.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Fantasy sports team selection.</a:t>
            </a:r>
          </a:p>
          <a:p>
            <a:pPr marL="411480" indent="-365760" algn="l">
              <a:spcAft>
                <a:spcPts val="960"/>
              </a:spcAft>
              <a:buFont typeface="Arial"/>
              <a:buChar char="•"/>
            </a:pPr>
            <a:r>
              <a:rPr sz="2928" b="1"/>
              <a:t>Target users / industries: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Coaches, team management and selectors.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Sports analytics companies and sports media.</a:t>
            </a:r>
          </a:p>
          <a:p>
            <a:pPr marL="822960" indent="-365760" algn="l">
              <a:spcAft>
                <a:spcPts val="960"/>
              </a:spcAft>
              <a:buFont typeface="Arial"/>
              <a:buChar char="–"/>
            </a:pPr>
            <a:r>
              <a:rPr sz="2684"/>
              <a:t>Fantasy sports platforms.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928" b="1"/>
              <a:t>Current limitations:</a:t>
            </a:r>
          </a:p>
          <a:p>
            <a:pPr marL="822960" indent="-365760" algn="l">
              <a:spcAft>
                <a:spcPts val="1080"/>
              </a:spcAft>
              <a:buFont typeface="Arial"/>
              <a:buChar char="–"/>
            </a:pPr>
            <a:r>
              <a:rPr sz="2684"/>
              <a:t>Assumes a linear relationship between features and performance.</a:t>
            </a:r>
          </a:p>
          <a:p>
            <a:pPr marL="822960" indent="-365760" algn="l">
              <a:spcAft>
                <a:spcPts val="1080"/>
              </a:spcAft>
              <a:buFont typeface="Arial"/>
              <a:buChar char="–"/>
            </a:pPr>
            <a:r>
              <a:rPr sz="2684"/>
              <a:t>Does not consider match conditions such as pitch, opponent, weather or form.</a:t>
            </a:r>
          </a:p>
          <a:p>
            <a:pPr marL="411480" indent="-365760" algn="l">
              <a:spcAft>
                <a:spcPts val="1080"/>
              </a:spcAft>
              <a:buFont typeface="Arial"/>
              <a:buChar char="•"/>
            </a:pPr>
            <a:r>
              <a:rPr sz="2928" b="1"/>
              <a:t>Dataset / technical constraints:</a:t>
            </a:r>
          </a:p>
          <a:p>
            <a:pPr marL="822960" indent="-365760" algn="l">
              <a:spcAft>
                <a:spcPts val="1080"/>
              </a:spcAft>
              <a:buFont typeface="Arial"/>
              <a:buChar char="–"/>
            </a:pPr>
            <a:r>
              <a:rPr sz="2684"/>
              <a:t>Accuracy depends on the size and quality of the dataset.</a:t>
            </a:r>
          </a:p>
          <a:p>
            <a:pPr marL="822960" indent="-365760" algn="l">
              <a:spcAft>
                <a:spcPts val="1080"/>
              </a:spcAft>
              <a:buFont typeface="Arial"/>
              <a:buChar char="–"/>
            </a:pPr>
            <a:r>
              <a:rPr sz="2684"/>
              <a:t>Limited to the features available in the Kaggle dataset.</a:t>
            </a:r>
          </a:p>
          <a:p>
            <a:pPr marL="822960" indent="-365760" algn="l">
              <a:spcAft>
                <a:spcPts val="1080"/>
              </a:spcAft>
              <a:buFont typeface="Arial"/>
              <a:buChar char="–"/>
            </a:pPr>
            <a:r>
              <a:rPr sz="2684"/>
              <a:t>Lasso may drop one of two correlated useful features.</a:t>
            </a:r>
          </a:p>
          <a:p>
            <a:pPr marL="822960" indent="-365760" algn="l">
              <a:spcAft>
                <a:spcPts val="1080"/>
              </a:spcAft>
              <a:buFont typeface="Arial"/>
              <a:buChar char="–"/>
            </a:pPr>
            <a:r>
              <a:rPr sz="2684"/>
              <a:t>Results need to be validated on more datasets before real use.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840"/>
              </a:spcAft>
              <a:buFont typeface="Arial"/>
              <a:buChar char="•"/>
            </a:pPr>
            <a:r>
              <a:rPr sz="2806" b="1"/>
              <a:t>Possible improvements:</a:t>
            </a:r>
          </a:p>
          <a:p>
            <a:pPr marL="822960" indent="-365760" algn="l">
              <a:spcAft>
                <a:spcPts val="840"/>
              </a:spcAft>
              <a:buFont typeface="Arial"/>
              <a:buChar char="–"/>
            </a:pPr>
            <a:r>
              <a:rPr sz="2562"/>
              <a:t>Use Elastic Net, Random Forest, Gradient Boosting or neural networks and compare.</a:t>
            </a:r>
          </a:p>
          <a:p>
            <a:pPr marL="822960" indent="-365760" algn="l">
              <a:spcAft>
                <a:spcPts val="840"/>
              </a:spcAft>
              <a:buFont typeface="Arial"/>
              <a:buChar char="–"/>
            </a:pPr>
            <a:r>
              <a:rPr sz="2562"/>
              <a:t>Include more features: opponent, venue, recent form, fitness and injury data.</a:t>
            </a:r>
          </a:p>
          <a:p>
            <a:pPr marL="411480" indent="-365760" algn="l">
              <a:spcAft>
                <a:spcPts val="840"/>
              </a:spcAft>
              <a:buFont typeface="Arial"/>
              <a:buChar char="•"/>
            </a:pPr>
            <a:r>
              <a:rPr sz="2806" b="1"/>
              <a:t>Additional features:</a:t>
            </a:r>
          </a:p>
          <a:p>
            <a:pPr marL="822960" indent="-365760" algn="l">
              <a:spcAft>
                <a:spcPts val="840"/>
              </a:spcAft>
              <a:buFont typeface="Arial"/>
              <a:buChar char="–"/>
            </a:pPr>
            <a:r>
              <a:rPr sz="2562"/>
              <a:t>Web or mobile app where coaches enter player data and get a prediction.</a:t>
            </a:r>
          </a:p>
          <a:p>
            <a:pPr marL="822960" indent="-365760" algn="l">
              <a:spcAft>
                <a:spcPts val="840"/>
              </a:spcAft>
              <a:buFont typeface="Arial"/>
              <a:buChar char="–"/>
            </a:pPr>
            <a:r>
              <a:rPr sz="2562"/>
              <a:t>Dashboard with graphs and player comparison.</a:t>
            </a:r>
          </a:p>
          <a:p>
            <a:pPr marL="411480" indent="-365760" algn="l">
              <a:spcAft>
                <a:spcPts val="840"/>
              </a:spcAft>
              <a:buFont typeface="Arial"/>
              <a:buChar char="•"/>
            </a:pPr>
            <a:r>
              <a:rPr sz="2806" b="1"/>
              <a:t>Deployment / scaling:</a:t>
            </a:r>
          </a:p>
          <a:p>
            <a:pPr marL="822960" indent="-365760" algn="l">
              <a:spcAft>
                <a:spcPts val="840"/>
              </a:spcAft>
              <a:buFont typeface="Arial"/>
              <a:buChar char="–"/>
            </a:pPr>
            <a:r>
              <a:rPr sz="2562"/>
              <a:t>Deploy on a cloud platform and update with live match data.</a:t>
            </a:r>
          </a:p>
          <a:p>
            <a:pPr marL="822960" indent="-365760" algn="l">
              <a:spcAft>
                <a:spcPts val="840"/>
              </a:spcAft>
              <a:buFont typeface="Arial"/>
              <a:buChar char="–"/>
            </a:pPr>
            <a:r>
              <a:rPr sz="2562"/>
              <a:t>Extend to other sports.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0" y="777240"/>
            <a:ext cx="10241280" cy="1280160"/>
          </a:xfrm>
        </p:spPr>
        <p:txBody>
          <a:bodyPr wrap="square" anchor="ctr"/>
          <a:lstStyle/>
          <a:p>
            <a:pPr algn="ctr"/>
            <a:r>
              <a:rPr sz="4800" b="1"/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2423160"/>
            <a:ext cx="11887200" cy="6949440"/>
          </a:xfrm>
        </p:spPr>
        <p:txBody>
          <a:bodyPr wrap="square"/>
          <a:lstStyle/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684" b="1"/>
              <a:t>What was achieved:</a:t>
            </a:r>
            <a:r>
              <a:rPr sz="2684"/>
              <a:t>  We built a system that predicts player performance using Ridge and Lasso Regression on historical player statistics.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684"/>
              <a:t>Data was cleaned, encoded and scaled, EDA was carried out, and both models were trained, tuned and evaluated using MAE, MSE, RMSE and R².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684" b="1"/>
              <a:t>Key outcome:</a:t>
            </a:r>
            <a:r>
              <a:rPr sz="2684"/>
              <a:t>  Regularization reduced overfitting, and Lasso helped identify the most important performance factors.</a:t>
            </a:r>
          </a:p>
          <a:p>
            <a:pPr marL="411480" indent="-365760" algn="l">
              <a:spcAft>
                <a:spcPts val="1439"/>
              </a:spcAft>
              <a:buFont typeface="Arial"/>
              <a:buChar char="•"/>
            </a:pPr>
            <a:r>
              <a:rPr sz="2684" b="1"/>
              <a:t>Overall contribution:</a:t>
            </a:r>
            <a:r>
              <a:rPr sz="2684"/>
              <a:t>  The project shows that regularized regression can give coaches and analysts a simple, interpretable and data-driven tool for decisions.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6080" y="2926080"/>
            <a:ext cx="11887200" cy="2194560"/>
          </a:xfrm>
        </p:spPr>
        <p:txBody>
          <a:bodyPr anchor="ctr"/>
          <a:lstStyle/>
          <a:p>
            <a:pPr algn="ctr"/>
            <a:r>
              <a:rPr sz="8000" b="1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2926080" y="5303520"/>
            <a:ext cx="11887200" cy="553998"/>
          </a:xfrm>
        </p:spPr>
        <p:txBody>
          <a:bodyPr/>
          <a:lstStyle/>
          <a:p>
            <a:pPr algn="ctr"/>
            <a:endParaRPr sz="3600" dirty="0">
              <a:solidFill>
                <a:srgbClr val="2E4A8B"/>
              </a:solidFill>
              <a:latin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2441</Words>
  <Application>Microsoft Office PowerPoint</Application>
  <PresentationFormat>Custom</PresentationFormat>
  <Paragraphs>356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Courier New</vt:lpstr>
      <vt:lpstr>Tahoma</vt:lpstr>
      <vt:lpstr>Office Theme</vt:lpstr>
      <vt:lpstr>PLAYER PERFORMANCE PREDICTION USING RIDGE AND LASSO REGRESSION</vt:lpstr>
      <vt:lpstr>CONTENTS</vt:lpstr>
      <vt:lpstr>ABSTRACT</vt:lpstr>
      <vt:lpstr>INTRODUCTION</vt:lpstr>
      <vt:lpstr>PROBLEM STATEMENT</vt:lpstr>
      <vt:lpstr>MOTIVATION</vt:lpstr>
      <vt:lpstr>OBJECTIVES</vt:lpstr>
      <vt:lpstr>EXISTING SYSTEM</vt:lpstr>
      <vt:lpstr>PROPOSED SYSTEM</vt:lpstr>
      <vt:lpstr>SYSTEM ARCHITECTURE</vt:lpstr>
      <vt:lpstr>METHODOLOGY / WORKFLOW</vt:lpstr>
      <vt:lpstr>TECHNOLOGY STACK</vt:lpstr>
      <vt:lpstr>SYSTEM MODULES</vt:lpstr>
      <vt:lpstr>DATASET / INPUT DATA</vt:lpstr>
      <vt:lpstr>DATA PREPROCESSING</vt:lpstr>
      <vt:lpstr>EXPLORATORY DATA ANALYSIS</vt:lpstr>
      <vt:lpstr>RIDGE REGRESSION (L2)</vt:lpstr>
      <vt:lpstr>LASSO REGRESSION (L1)</vt:lpstr>
      <vt:lpstr>RIDGE vs LASSO</vt:lpstr>
      <vt:lpstr>EVALUATION METRICS</vt:lpstr>
      <vt:lpstr>IMPLEMENTATION</vt:lpstr>
      <vt:lpstr>RESULTS</vt:lpstr>
      <vt:lpstr>SCREENSHOTS / DEMO</vt:lpstr>
      <vt:lpstr>ADVANTAGES</vt:lpstr>
      <vt:lpstr>APPLICATIONS</vt:lpstr>
      <vt:lpstr>LIMITATIONS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Elegant Presentation</dc:title>
  <dc:creator>Rakshitha</dc:creator>
  <cp:keywords>DAHSPHFZy8s,BAG4BxSE4BA</cp:keywords>
  <cp:lastModifiedBy>Jangirala Rakshitha</cp:lastModifiedBy>
  <cp:revision>3</cp:revision>
  <dcterms:created xsi:type="dcterms:W3CDTF">2026-08-14T05:38:33Z</dcterms:created>
  <dcterms:modified xsi:type="dcterms:W3CDTF">2026-10-14T05:50:03Z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2026-08-14T00:00:00Z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2026-08-14T00:00:00Z</vt:filetime>
  </property>
  <property fmtid="{D5CDD505-2E9C-101B-9397-08002B2CF9AE}" pid="6" name="Producer">
    <vt:lpwstr>Canva</vt:lpwstr>
  </property>
</Properties>
</file>